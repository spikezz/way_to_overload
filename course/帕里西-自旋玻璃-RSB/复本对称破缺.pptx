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！欢迎来到今天的探索之旅。我们的主题就写在这里——无序中的隐藏地图：从混乱到结构。接下来，我会像探险队长一样，带你们走进复杂系统的神秘森林。这节课的主角，是2021年诺贝尔物理学奖得主Giorgio Parisi，帕里西教授。他从自旋玻璃出发，却绘制了一张通往深层秩序的地图。
先来看这个核心问题：当随机性占据主导，稳固的层次结构为何还会涌现？无序的沙漠里，怎么会长出有序的绿洲？这就是帕里西地图的起点，也是我们要用整节课回答的悖论。
铺设第一条路径：无序不等于混乱。Disorder is not equal to Chaos。一片随机分布的节点，看似杂乱无章，彼此之间却可能藏着稳定的关联。我们要找的，正是这种随机中的稳定结构。
第二条路径：复本对称破缺，Replica Symmetry Breaking。别被名字吓跑——把它想象成一面镜子碎裂成无数碎片，每一片都映照出系统的一种可能命运，而这些碎片之间存在着精密的等级关系。建立直觉图像，是我们今天的核心策略。
最终路径：跨尺度统一，从原子到行星，Atom to Planet。帕里西发现，相同的数学肖像竟然贯穿微观与宏观。准备好了吗？下一站，我们将踏入自旋玻璃那片冻结的混沌！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一页我们的复本探险队刚刚在崎岖的能量地貌中找到了协作策略。但问题来了——当我们面对的不是几个孤立的山谷，而是无穷多层、彼此嵌套的复杂地形时，一张标注着“起点”和“终点”的简单地图就不够用了。Parisi 给我们绘制了一张全新的地图：序参量（order parameter）与等级宇宙。
在传统相变中，序参量 order parameter 往往只是一个数，比如磁化强度。但在自旋玻璃的世界里，单一数值就像试图用一把直尺丈量一棵枝繁叶茂到无穷的大树——根本不够用。Parisi 的天才之举，是把序参量从一个数扩展为一个函数 q(x)。这不是故弄玄虚，而是因为我们面对的是无穷多层的纯态结构，必须用连续函数才能描绘。
这就引出了纯态 Pure States 的概念。它们的关系不是简单的“并排站立”，而是像俄罗斯套娃一样层层嵌套。每一个看起来完整的“娃娃”，打开后里面还藏着更小的、同样复杂的另一个世界。这种结构，我们称之为等级 hierarchical 嵌套。
更直观的比喻是家谱树。想象一个古老的家族：最初一分为二，然后每一支再一分为二，分裂—再分裂，直到无穷。Parisi 发现，自旋玻璃的纯态正是以这种方式组织的。理解这个“分裂—再分裂”的直觉，比记住任何公式都重要——这就是这张地图的核心地形。
这种精巧的数学结构，物理意义何在？它意味着系统拥有近乎永恒的记忆力——自旋玻璃永远记得它的过去。而老化 aging 过程也绝非均匀流逝，等级结构中每一层都有自己的“时钟”，各自以不同速度走向热平衡。带着这张 Parisi 地图，我们下一页将进入真正的旅程：从原子到行星，看看尺度缩放 scaling 如何揭示这种等级结构的奥秘。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好，我们终于站到了这张地图前。你的下一张地图——无序之美。Giorgio Parisi 没有给我们一张填满标准答案的导航图，而是留下了三把思维钥匙。
这三把钥匙不是用来背诵的公式，而是三种看待复杂世界的习惯。接下来，让我们一把一把地认识它们。
第一把钥匙是景观（landscape）。想象一个布满山谷与山脊的能量面，就像我们在第2页讨论的自旋玻璃。系统冻结时，它并非停在一个唯一的正确答案上，而是在复杂地形中做出选择——多稳态（multiple stability），正是大自然留给无序系统的隐藏选项。
第二把钥匙是复本（replica）。还记得我们在第4页派出的那支复本探险队吗？同一系统复制成两支命运线，却发现了不同的内部结构。对称破缺（symmetry breaking）与自相似——Parisi 用这种方式告诉我们，混乱里不是一团糟，而是有着精细、重复的纹理。
第三把钥匙是层次（hierarchy）。超度量（ultrametric）与树状结构。从第6页的原子到行星，我们走过了尺度缩放的旅程。这把钥匙提醒我们，涌现的秩序从来不是扁平的，而是像一棵不断分叉的树。现在，试着在你自己的专业领域里使用它们：写代码时的多解优化问题、社会现象中的层级涌现，都是这三把钥匙的用武之地。如果你还想继续探索，下一步最自然的方向就是深度学习中的复杂景观与损失面（loss landscape）——高维空间里，神经网络也在一片类似自旋玻璃的能量面上寻找路径。今天的旅程就到这里，希望你们带走的不只是几个术语，而是一双能在无序中发现地图的眼睛。继续探索，我们后会有期。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无序中的隐藏地图：从混乱到结构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1097280" y="1280160"/>
            <a:ext cx="694944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当随机性占据主导，稳固的层次结构为何涌现？</a:t>
            </a:r>
            <a:endParaRPr lang="en-US" sz="1152" dirty="0"/>
          </a:p>
        </p:txBody>
      </p:sp>
      <p:sp>
        <p:nvSpPr>
          <p:cNvPr id="5" name="Text 2"/>
          <p:cNvSpPr/>
          <p:nvPr/>
        </p:nvSpPr>
        <p:spPr>
          <a:xfrm>
            <a:off x="1097280" y="1920240"/>
            <a:ext cx="694944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Giorgio Parisi · 2021 诺贝尔物理学奖 · 自旋玻璃与复杂系统</a:t>
            </a:r>
            <a:endParaRPr lang="en-US" sz="1152" dirty="0"/>
          </a:p>
        </p:txBody>
      </p:sp>
      <p:sp>
        <p:nvSpPr>
          <p:cNvPr id="6" name="Shape 3"/>
          <p:cNvSpPr/>
          <p:nvPr/>
        </p:nvSpPr>
        <p:spPr>
          <a:xfrm>
            <a:off x="548640" y="2560320"/>
            <a:ext cx="2286000" cy="1828800"/>
          </a:xfrm>
          <a:custGeom>
            <a:avLst/>
            <a:gdLst/>
            <a:ahLst/>
            <a:cxnLst/>
            <a:rect l="l" t="t" r="r" b="b"/>
            <a:pathLst>
              <a:path w="2286000" h="1828800">
                <a:moveTo>
                  <a:pt x="0" y="0"/>
                </a:moveTo>
                <a:lnTo>
                  <a:pt x="2286000" y="0"/>
                </a:lnTo>
                <a:lnTo>
                  <a:pt x="2286000" y="1828800"/>
                </a:lnTo>
                <a:lnTo>
                  <a:pt x="0" y="1828800"/>
                </a:lnTo>
                <a:close/>
              </a:path>
            </a:pathLst>
          </a:custGeom>
          <a:solidFill>
            <a:srgbClr val="DBEAFE"/>
          </a:solidFill>
          <a:ln/>
        </p:spPr>
      </p:sp>
      <p:sp>
        <p:nvSpPr>
          <p:cNvPr id="7" name="Shape 4"/>
          <p:cNvSpPr/>
          <p:nvPr/>
        </p:nvSpPr>
        <p:spPr>
          <a:xfrm>
            <a:off x="3383280" y="2560320"/>
            <a:ext cx="2286000" cy="1828800"/>
          </a:xfrm>
          <a:custGeom>
            <a:avLst/>
            <a:gdLst/>
            <a:ahLst/>
            <a:cxnLst/>
            <a:rect l="l" t="t" r="r" b="b"/>
            <a:pathLst>
              <a:path w="2286000" h="1828800">
                <a:moveTo>
                  <a:pt x="0" y="0"/>
                </a:moveTo>
                <a:lnTo>
                  <a:pt x="2286000" y="0"/>
                </a:lnTo>
                <a:lnTo>
                  <a:pt x="2286000" y="1828800"/>
                </a:lnTo>
                <a:lnTo>
                  <a:pt x="0" y="1828800"/>
                </a:lnTo>
                <a:close/>
              </a:path>
            </a:pathLst>
          </a:custGeom>
          <a:solidFill>
            <a:srgbClr val="DCFCE7"/>
          </a:solidFill>
          <a:ln/>
        </p:spPr>
      </p:sp>
      <p:sp>
        <p:nvSpPr>
          <p:cNvPr id="8" name="Shape 5"/>
          <p:cNvSpPr/>
          <p:nvPr/>
        </p:nvSpPr>
        <p:spPr>
          <a:xfrm>
            <a:off x="6217920" y="2560320"/>
            <a:ext cx="2286000" cy="1828800"/>
          </a:xfrm>
          <a:custGeom>
            <a:avLst/>
            <a:gdLst/>
            <a:ahLst/>
            <a:cxnLst/>
            <a:rect l="l" t="t" r="r" b="b"/>
            <a:pathLst>
              <a:path w="2286000" h="1828800">
                <a:moveTo>
                  <a:pt x="0" y="0"/>
                </a:moveTo>
                <a:lnTo>
                  <a:pt x="2286000" y="0"/>
                </a:lnTo>
                <a:lnTo>
                  <a:pt x="2286000" y="1828800"/>
                </a:lnTo>
                <a:lnTo>
                  <a:pt x="0" y="1828800"/>
                </a:lnTo>
                <a:close/>
              </a:path>
            </a:pathLst>
          </a:custGeom>
          <a:solidFill>
            <a:srgbClr val="FEF3C7"/>
          </a:solidFill>
          <a:ln/>
        </p:spPr>
      </p:sp>
      <p:sp>
        <p:nvSpPr>
          <p:cNvPr id="9" name="Shape 6"/>
          <p:cNvSpPr/>
          <p:nvPr/>
        </p:nvSpPr>
        <p:spPr>
          <a:xfrm>
            <a:off x="2834640" y="3474720"/>
            <a:ext cx="548640" cy="0"/>
          </a:xfrm>
          <a:custGeom>
            <a:avLst/>
            <a:gdLst/>
            <a:ahLst/>
            <a:cxnLst/>
            <a:rect l="l" t="t" r="r" b="b"/>
            <a:pathLst>
              <a:path w="548640" h="0">
                <a:moveTo>
                  <a:pt x="0" y="0"/>
                </a:moveTo>
                <a:lnTo>
                  <a:pt x="548640" y="0"/>
                </a:lnTo>
              </a:path>
            </a:pathLst>
          </a:custGeom>
          <a:noFill/>
          <a:ln w="27432">
            <a:solidFill>
              <a:srgbClr val="94A3B8"/>
            </a:solidFill>
            <a:prstDash val="solid"/>
            <a:headEnd type="none"/>
            <a:tailEnd type="arrow"/>
          </a:ln>
        </p:spPr>
      </p:sp>
      <p:sp>
        <p:nvSpPr>
          <p:cNvPr id="10" name="Shape 7"/>
          <p:cNvSpPr/>
          <p:nvPr/>
        </p:nvSpPr>
        <p:spPr>
          <a:xfrm>
            <a:off x="5760720" y="3474720"/>
            <a:ext cx="548640" cy="0"/>
          </a:xfrm>
          <a:custGeom>
            <a:avLst/>
            <a:gdLst/>
            <a:ahLst/>
            <a:cxnLst/>
            <a:rect l="l" t="t" r="r" b="b"/>
            <a:pathLst>
              <a:path w="548640" h="0">
                <a:moveTo>
                  <a:pt x="0" y="0"/>
                </a:moveTo>
                <a:lnTo>
                  <a:pt x="548640" y="0"/>
                </a:lnTo>
              </a:path>
            </a:pathLst>
          </a:custGeom>
          <a:noFill/>
          <a:ln w="27432">
            <a:solidFill>
              <a:srgbClr val="94A3B8"/>
            </a:solidFill>
            <a:prstDash val="solid"/>
            <a:headEnd type="none"/>
            <a:tailEnd type="arrow"/>
          </a:ln>
        </p:spPr>
      </p:sp>
      <p:sp>
        <p:nvSpPr>
          <p:cNvPr id="11" name="Text 8"/>
          <p:cNvSpPr/>
          <p:nvPr/>
        </p:nvSpPr>
        <p:spPr>
          <a:xfrm>
            <a:off x="731520" y="2880360"/>
            <a:ext cx="192024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无序 ≠ 混乱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Disorder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≠ Chaos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随机中的稳定关联</a:t>
            </a:r>
            <a:endParaRPr lang="en-US" sz="1152" dirty="0"/>
          </a:p>
        </p:txBody>
      </p:sp>
      <p:sp>
        <p:nvSpPr>
          <p:cNvPr id="12" name="Text 9"/>
          <p:cNvSpPr/>
          <p:nvPr/>
        </p:nvSpPr>
        <p:spPr>
          <a:xfrm>
            <a:off x="3566160" y="2752344"/>
            <a:ext cx="1920240" cy="14356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复本对称破缺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Replica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Symmetry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Breaking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直觉图像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6400800" y="2880360"/>
            <a:ext cx="192024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跨尺度统一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Atom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Planet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相同数学肖像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200400" y="1115568"/>
            <a:ext cx="2743200" cy="27432"/>
          </a:xfrm>
          <a:custGeom>
            <a:avLst/>
            <a:gdLst/>
            <a:ahLst/>
            <a:cxnLst/>
            <a:rect l="l" t="t" r="r" b="b"/>
            <a:pathLst>
              <a:path w="2743200" h="27432">
                <a:moveTo>
                  <a:pt x="0" y="0"/>
                </a:moveTo>
                <a:lnTo>
                  <a:pt x="2743200" y="0"/>
                </a:lnTo>
                <a:lnTo>
                  <a:pt x="274320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" name="Shape 1"/>
          <p:cNvSpPr/>
          <p:nvPr/>
        </p:nvSpPr>
        <p:spPr>
          <a:xfrm>
            <a:off x="548640" y="2011680"/>
            <a:ext cx="2560320" cy="2560320"/>
          </a:xfrm>
          <a:custGeom>
            <a:avLst/>
            <a:gdLst/>
            <a:ahLst/>
            <a:cxnLst/>
            <a:rect l="l" t="t" r="r" b="b"/>
            <a:pathLst>
              <a:path w="2560320" h="2560320">
                <a:moveTo>
                  <a:pt x="0" y="0"/>
                </a:moveTo>
                <a:lnTo>
                  <a:pt x="2560320" y="0"/>
                </a:lnTo>
                <a:lnTo>
                  <a:pt x="2560320" y="2560320"/>
                </a:lnTo>
                <a:lnTo>
                  <a:pt x="0" y="2560320"/>
                </a:lnTo>
                <a:close/>
              </a:path>
            </a:pathLst>
          </a:custGeom>
          <a:solidFill>
            <a:srgbClr val="FFF7ED"/>
          </a:solidFill>
          <a:ln/>
        </p:spPr>
      </p:sp>
      <p:sp>
        <p:nvSpPr>
          <p:cNvPr id="5" name="Shape 2"/>
          <p:cNvSpPr/>
          <p:nvPr/>
        </p:nvSpPr>
        <p:spPr>
          <a:xfrm>
            <a:off x="3291840" y="2011680"/>
            <a:ext cx="2560320" cy="2560320"/>
          </a:xfrm>
          <a:custGeom>
            <a:avLst/>
            <a:gdLst/>
            <a:ahLst/>
            <a:cxnLst/>
            <a:rect l="l" t="t" r="r" b="b"/>
            <a:pathLst>
              <a:path w="2560320" h="2560320">
                <a:moveTo>
                  <a:pt x="0" y="0"/>
                </a:moveTo>
                <a:lnTo>
                  <a:pt x="2560320" y="0"/>
                </a:lnTo>
                <a:lnTo>
                  <a:pt x="2560320" y="2560320"/>
                </a:lnTo>
                <a:lnTo>
                  <a:pt x="0" y="2560320"/>
                </a:ln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6" name="Shape 3"/>
          <p:cNvSpPr/>
          <p:nvPr/>
        </p:nvSpPr>
        <p:spPr>
          <a:xfrm>
            <a:off x="6035040" y="2011680"/>
            <a:ext cx="2560320" cy="2560320"/>
          </a:xfrm>
          <a:custGeom>
            <a:avLst/>
            <a:gdLst/>
            <a:ahLst/>
            <a:cxnLst/>
            <a:rect l="l" t="t" r="r" b="b"/>
            <a:pathLst>
              <a:path w="2560320" h="2560320">
                <a:moveTo>
                  <a:pt x="0" y="0"/>
                </a:moveTo>
                <a:lnTo>
                  <a:pt x="2560320" y="0"/>
                </a:lnTo>
                <a:lnTo>
                  <a:pt x="2560320" y="2560320"/>
                </a:lnTo>
                <a:lnTo>
                  <a:pt x="0" y="2560320"/>
                </a:ln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7" name="Shape 4"/>
          <p:cNvSpPr/>
          <p:nvPr/>
        </p:nvSpPr>
        <p:spPr>
          <a:xfrm>
            <a:off x="1417320" y="2194560"/>
            <a:ext cx="822960" cy="548640"/>
          </a:xfrm>
          <a:custGeom>
            <a:avLst/>
            <a:gdLst/>
            <a:ahLst/>
            <a:cxnLst/>
            <a:rect l="l" t="t" r="r" b="b"/>
            <a:pathLst>
              <a:path w="822960" h="548640">
                <a:moveTo>
                  <a:pt x="0" y="0"/>
                </a:moveTo>
                <a:lnTo>
                  <a:pt x="822960" y="0"/>
                </a:lnTo>
                <a:lnTo>
                  <a:pt x="822960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FB923C"/>
          </a:solidFill>
          <a:ln/>
        </p:spPr>
      </p:sp>
      <p:sp>
        <p:nvSpPr>
          <p:cNvPr id="8" name="Shape 5"/>
          <p:cNvSpPr/>
          <p:nvPr/>
        </p:nvSpPr>
        <p:spPr>
          <a:xfrm>
            <a:off x="1554480" y="2331720"/>
            <a:ext cx="548640" cy="274320"/>
          </a:xfrm>
          <a:custGeom>
            <a:avLst/>
            <a:gdLst/>
            <a:ahLst/>
            <a:cxnLst/>
            <a:rect l="l" t="t" r="r" b="b"/>
            <a:pathLst>
              <a:path w="548640" h="274320">
                <a:moveTo>
                  <a:pt x="0" y="0"/>
                </a:moveTo>
                <a:lnTo>
                  <a:pt x="548640" y="0"/>
                </a:lnTo>
                <a:lnTo>
                  <a:pt x="548640" y="274320"/>
                </a:lnTo>
                <a:lnTo>
                  <a:pt x="0" y="274320"/>
                </a:lnTo>
                <a:close/>
              </a:path>
            </a:pathLst>
          </a:custGeom>
          <a:solidFill>
            <a:srgbClr val="FDBA74"/>
          </a:solidFill>
          <a:ln/>
        </p:spPr>
      </p:sp>
      <p:sp>
        <p:nvSpPr>
          <p:cNvPr id="9" name="Shape 6"/>
          <p:cNvSpPr/>
          <p:nvPr/>
        </p:nvSpPr>
        <p:spPr>
          <a:xfrm>
            <a:off x="1691640" y="2468880"/>
            <a:ext cx="274320" cy="91440"/>
          </a:xfrm>
          <a:custGeom>
            <a:avLst/>
            <a:gdLst/>
            <a:ahLst/>
            <a:cxnLst/>
            <a:rect l="l" t="t" r="r" b="b"/>
            <a:pathLst>
              <a:path w="274320" h="91440">
                <a:moveTo>
                  <a:pt x="0" y="0"/>
                </a:moveTo>
                <a:lnTo>
                  <a:pt x="274320" y="0"/>
                </a:lnTo>
                <a:lnTo>
                  <a:pt x="274320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FED7AA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2194560"/>
            <a:ext cx="0" cy="228600"/>
          </a:xfrm>
          <a:custGeom>
            <a:avLst/>
            <a:gdLst/>
            <a:ahLst/>
            <a:cxnLst/>
            <a:rect l="l" t="t" r="r" b="b"/>
            <a:pathLst>
              <a:path w="0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27432">
            <a:solidFill>
              <a:srgbClr val="3B82F6"/>
            </a:solidFill>
            <a:prstDash val="solid"/>
            <a:headEnd type="none"/>
            <a:tailEnd type="none"/>
          </a:ln>
        </p:spPr>
      </p:sp>
      <p:sp>
        <p:nvSpPr>
          <p:cNvPr id="11" name="Shape 8"/>
          <p:cNvSpPr/>
          <p:nvPr/>
        </p:nvSpPr>
        <p:spPr>
          <a:xfrm>
            <a:off x="4389120" y="242316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182880" y="0"/>
                </a:moveTo>
                <a:lnTo>
                  <a:pt x="0" y="182880"/>
                </a:lnTo>
              </a:path>
            </a:pathLst>
          </a:custGeom>
          <a:noFill/>
          <a:ln w="27432">
            <a:solidFill>
              <a:srgbClr val="3B82F6"/>
            </a:solidFill>
            <a:prstDash val="solid"/>
            <a:headEnd type="none"/>
            <a:tailEnd type="none"/>
          </a:ln>
        </p:spPr>
      </p:sp>
      <p:sp>
        <p:nvSpPr>
          <p:cNvPr id="12" name="Shape 9"/>
          <p:cNvSpPr/>
          <p:nvPr/>
        </p:nvSpPr>
        <p:spPr>
          <a:xfrm>
            <a:off x="4572000" y="242316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0" y="0"/>
                </a:moveTo>
                <a:lnTo>
                  <a:pt x="182880" y="182880"/>
                </a:lnTo>
              </a:path>
            </a:pathLst>
          </a:custGeom>
          <a:noFill/>
          <a:ln w="27432">
            <a:solidFill>
              <a:srgbClr val="3B82F6"/>
            </a:solidFill>
            <a:prstDash val="solid"/>
            <a:headEnd type="none"/>
            <a:tailEnd type="none"/>
          </a:ln>
        </p:spPr>
      </p:sp>
      <p:sp>
        <p:nvSpPr>
          <p:cNvPr id="13" name="Shape 10"/>
          <p:cNvSpPr/>
          <p:nvPr/>
        </p:nvSpPr>
        <p:spPr>
          <a:xfrm>
            <a:off x="7086600" y="219456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228600"/>
                </a:move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lose/>
              </a:path>
            </a:pathLst>
          </a:custGeom>
          <a:solidFill>
            <a:srgbClr val="86EFAC"/>
          </a:solidFill>
          <a:ln/>
        </p:spPr>
      </p:sp>
      <p:sp>
        <p:nvSpPr>
          <p:cNvPr id="14" name="Shape 11"/>
          <p:cNvSpPr/>
          <p:nvPr/>
        </p:nvSpPr>
        <p:spPr>
          <a:xfrm>
            <a:off x="7223760" y="233172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182880" y="91440"/>
                </a:move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ubicBezTo>
                  <a:pt x="141907" y="0"/>
                  <a:pt x="182880" y="40973"/>
                  <a:pt x="182880" y="91440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Parisi 的地图：序参量与等级宇宙</a:t>
            </a:r>
            <a:endParaRPr lang="en-US" sz="1152" dirty="0"/>
          </a:p>
        </p:txBody>
      </p:sp>
      <p:sp>
        <p:nvSpPr>
          <p:cNvPr id="16" name="Text 13"/>
          <p:cNvSpPr/>
          <p:nvPr/>
        </p:nvSpPr>
        <p:spPr>
          <a:xfrm>
            <a:off x="548640" y="1325880"/>
            <a:ext cx="804672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从单一数值到连续函数，从平面到无穷嵌套的等级结构</a:t>
            </a:r>
            <a:endParaRPr lang="en-US" sz="1152" dirty="0"/>
          </a:p>
        </p:txBody>
      </p:sp>
      <p:sp>
        <p:nvSpPr>
          <p:cNvPr id="17" name="Text 14"/>
          <p:cNvSpPr/>
          <p:nvPr/>
        </p:nvSpPr>
        <p:spPr>
          <a:xfrm>
            <a:off x="685800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9A34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序参量 q(x)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9A34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从数到函数</a:t>
            </a:r>
            <a:endParaRPr lang="en-US" sz="1152" dirty="0"/>
          </a:p>
        </p:txBody>
      </p:sp>
      <p:sp>
        <p:nvSpPr>
          <p:cNvPr id="18" name="Text 15"/>
          <p:cNvSpPr/>
          <p:nvPr/>
        </p:nvSpPr>
        <p:spPr>
          <a:xfrm>
            <a:off x="685800" y="3657600"/>
            <a:ext cx="2286000" cy="5852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单一数值无法刻画，需连续函数描述无穷多层结构</a:t>
            </a:r>
            <a:endParaRPr lang="en-US" sz="1152" dirty="0"/>
          </a:p>
        </p:txBody>
      </p:sp>
      <p:sp>
        <p:nvSpPr>
          <p:cNvPr id="19" name="Text 16"/>
          <p:cNvSpPr/>
          <p:nvPr/>
        </p:nvSpPr>
        <p:spPr>
          <a:xfrm>
            <a:off x="3429000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纯态 Pure States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等级嵌套</a:t>
            </a:r>
            <a:endParaRPr lang="en-US" sz="1152" dirty="0"/>
          </a:p>
        </p:txBody>
      </p:sp>
      <p:sp>
        <p:nvSpPr>
          <p:cNvPr id="20" name="Text 17"/>
          <p:cNvSpPr/>
          <p:nvPr/>
        </p:nvSpPr>
        <p:spPr>
          <a:xfrm>
            <a:off x="3429000" y="3657600"/>
            <a:ext cx="2286000" cy="5852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分裂—再分裂；如同家谱树，纯态层层嵌套至无穷</a:t>
            </a:r>
            <a:endParaRPr lang="en-US" sz="1152" dirty="0"/>
          </a:p>
        </p:txBody>
      </p:sp>
      <p:sp>
        <p:nvSpPr>
          <p:cNvPr id="21" name="Text 18"/>
          <p:cNvSpPr/>
          <p:nvPr/>
        </p:nvSpPr>
        <p:spPr>
          <a:xfrm>
            <a:off x="6172200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物理意义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记忆与老化</a:t>
            </a:r>
            <a:endParaRPr lang="en-US" sz="1152" dirty="0"/>
          </a:p>
        </p:txBody>
      </p:sp>
      <p:sp>
        <p:nvSpPr>
          <p:cNvPr id="22" name="Text 19"/>
          <p:cNvSpPr/>
          <p:nvPr/>
        </p:nvSpPr>
        <p:spPr>
          <a:xfrm>
            <a:off x="6172200" y="3657600"/>
            <a:ext cx="2286000" cy="5852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1453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系统永远记得过去；老化过程非均匀，层级各自不同</a:t>
            </a:r>
            <a:endParaRPr lang="en-US" sz="115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你的下一张地图：无序之美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548640" y="1188720"/>
            <a:ext cx="804672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Parisi 的三把思维钥匙</a:t>
            </a:r>
            <a:endParaRPr lang="en-US" sz="1152" dirty="0"/>
          </a:p>
        </p:txBody>
      </p:sp>
      <p:sp>
        <p:nvSpPr>
          <p:cNvPr id="5" name="Shape 2"/>
          <p:cNvSpPr/>
          <p:nvPr/>
        </p:nvSpPr>
        <p:spPr>
          <a:xfrm>
            <a:off x="548640" y="1920240"/>
            <a:ext cx="2560320" cy="1097280"/>
          </a:xfrm>
          <a:custGeom>
            <a:avLst/>
            <a:gdLst/>
            <a:ahLst/>
            <a:cxnLst/>
            <a:rect l="l" t="t" r="r" b="b"/>
            <a:pathLst>
              <a:path w="2560320" h="1097280">
                <a:moveTo>
                  <a:pt x="0" y="0"/>
                </a:moveTo>
                <a:lnTo>
                  <a:pt x="2560320" y="0"/>
                </a:lnTo>
                <a:lnTo>
                  <a:pt x="2560320" y="1097280"/>
                </a:lnTo>
                <a:lnTo>
                  <a:pt x="0" y="1097280"/>
                </a:lnTo>
                <a:close/>
              </a:path>
            </a:pathLst>
          </a:custGeom>
          <a:solidFill>
            <a:srgbClr val="E0F2FE"/>
          </a:solidFill>
          <a:ln/>
        </p:spPr>
      </p:sp>
      <p:sp>
        <p:nvSpPr>
          <p:cNvPr id="6" name="Shape 3"/>
          <p:cNvSpPr/>
          <p:nvPr/>
        </p:nvSpPr>
        <p:spPr>
          <a:xfrm>
            <a:off x="3291840" y="1920240"/>
            <a:ext cx="2560320" cy="1097280"/>
          </a:xfrm>
          <a:custGeom>
            <a:avLst/>
            <a:gdLst/>
            <a:ahLst/>
            <a:cxnLst/>
            <a:rect l="l" t="t" r="r" b="b"/>
            <a:pathLst>
              <a:path w="2560320" h="1097280">
                <a:moveTo>
                  <a:pt x="0" y="0"/>
                </a:moveTo>
                <a:lnTo>
                  <a:pt x="2560320" y="0"/>
                </a:lnTo>
                <a:lnTo>
                  <a:pt x="2560320" y="1097280"/>
                </a:lnTo>
                <a:lnTo>
                  <a:pt x="0" y="1097280"/>
                </a:lnTo>
                <a:close/>
              </a:path>
            </a:pathLst>
          </a:custGeom>
          <a:solidFill>
            <a:srgbClr val="F3E8FF"/>
          </a:solidFill>
          <a:ln/>
        </p:spPr>
      </p:sp>
      <p:sp>
        <p:nvSpPr>
          <p:cNvPr id="7" name="Shape 4"/>
          <p:cNvSpPr/>
          <p:nvPr/>
        </p:nvSpPr>
        <p:spPr>
          <a:xfrm>
            <a:off x="6035040" y="1920240"/>
            <a:ext cx="2560320" cy="1097280"/>
          </a:xfrm>
          <a:custGeom>
            <a:avLst/>
            <a:gdLst/>
            <a:ahLst/>
            <a:cxnLst/>
            <a:rect l="l" t="t" r="r" b="b"/>
            <a:pathLst>
              <a:path w="2560320" h="1097280">
                <a:moveTo>
                  <a:pt x="0" y="0"/>
                </a:moveTo>
                <a:lnTo>
                  <a:pt x="2560320" y="0"/>
                </a:lnTo>
                <a:lnTo>
                  <a:pt x="2560320" y="1097280"/>
                </a:lnTo>
                <a:lnTo>
                  <a:pt x="0" y="1097280"/>
                </a:lnTo>
                <a:close/>
              </a:path>
            </a:pathLst>
          </a:custGeom>
          <a:solidFill>
            <a:srgbClr val="DCFCE7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121408"/>
            <a:ext cx="219456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759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景观 landscape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0759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能量面与多稳态</a:t>
            </a:r>
            <a:endParaRPr lang="en-US" sz="1152" dirty="0"/>
          </a:p>
        </p:txBody>
      </p:sp>
      <p:sp>
        <p:nvSpPr>
          <p:cNvPr id="9" name="Text 6"/>
          <p:cNvSpPr/>
          <p:nvPr/>
        </p:nvSpPr>
        <p:spPr>
          <a:xfrm>
            <a:off x="3474720" y="2121408"/>
            <a:ext cx="219456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6B21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复本 replica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B21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对称破缺与自相似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6217920" y="2121408"/>
            <a:ext cx="219456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层次 hierarchy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超度量与树状结构</a:t>
            </a:r>
            <a:endParaRPr lang="en-US" sz="1152" dirty="0"/>
          </a:p>
        </p:txBody>
      </p:sp>
      <p:sp>
        <p:nvSpPr>
          <p:cNvPr id="11" name="Shape 8"/>
          <p:cNvSpPr/>
          <p:nvPr/>
        </p:nvSpPr>
        <p:spPr>
          <a:xfrm>
            <a:off x="914400" y="3246120"/>
            <a:ext cx="7315200" cy="18288"/>
          </a:xfrm>
          <a:custGeom>
            <a:avLst/>
            <a:gdLst/>
            <a:ahLst/>
            <a:cxnLst/>
            <a:rect l="l" t="t" r="r" b="b"/>
            <a:pathLst>
              <a:path w="7315200" h="18288">
                <a:moveTo>
                  <a:pt x="0" y="0"/>
                </a:moveTo>
                <a:lnTo>
                  <a:pt x="7315200" y="0"/>
                </a:lnTo>
                <a:lnTo>
                  <a:pt x="7315200" y="18288"/>
                </a:lnTo>
                <a:lnTo>
                  <a:pt x="0" y="18288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3520440"/>
            <a:ext cx="3931920" cy="9418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在所学领域中寻找无序结构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对照多解问题与能量面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识别层级与涌现模式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4663440" y="3520440"/>
            <a:ext cx="3931920" cy="9418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下一步：复杂景观与损失面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深度学习中的高维损失面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从自旋玻璃到优化直觉</a:t>
            </a:r>
            <a:endParaRPr lang="en-US" sz="11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2026-05-31T10:11:25Z</dcterms:created>
  <dcterms:modified xsi:type="dcterms:W3CDTF">2026-05-31T10:11:25Z</dcterms:modified>
</cp:coreProperties>
</file>