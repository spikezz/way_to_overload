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同学们，大家好！欢迎来到《从生物机制到人工群体智能》的第一堂课。今天，我们将一起揭开大自然最神奇的宏大魔术——‘涌现与非直接协同’（Emergence and Stigmergy）。大家可以想象一下，数百万只没有高等智慧、视力极差的白蚁，在没有‘指挥官’、甚至彼此互不说话的情况下，是如何建造出高耸、复杂且通风良好的蚁丘‘摩天大楼’的？这背后的分布式控制系统究竟是如何运转的？这就是我们本门课程将要深入探讨的课题。
首先，我们来面对一个直观的科学谜题，这就是‘协同悖论’（Coordination Paradox）。
如果我们去观察微观的白蚁，会发现一个令人震惊的现象：每个个体之间几乎没有任何直接的通信。它们没有5G网络，不发微信，甚至在筑巢时彼此都没有直接的触觉或视觉信号，就像是在各自孤独地工作。然而，当把镜头拉远到宏观层面，整只蚁群的建造行为却表现得如同有一张无形的总施工图纸在指导一样，高度有序、丝毫不乱。这种‘微观无沟通，宏观高协同’的矛盾现象，就是我们所说的协同悖论。
为了解释这个悖论，历史上科学家们吵得不可开交。一派提出了‘超个体论’（Superorganism），假想群体中存在某种超自然的‘集体灵魂’或无形的信息场，在冥冥之中操控着一切。这听起来很玄妙，但对我们的工程落地没有任何帮助。而另一派则持‘独立个体假说’（Rabaud 理论），认为个体纯粹是各干各的，一切宏观秩序都是概率上的巧合。显然，这两种极端的解释都无法满足我们工科生的严谨要求。
直到1959年，法国生物学家 Pierre-Paul Grassé 提出了一个里程碑式的概念：‘非直接协同’（Stigmergy）。这个概念用我们现代控制工程的语言来描述，其实就是一个经典的状态机模型。大家请看这个公式：当前的‘环境状态’S_t 引导了个体产生特定的‘行为’A_t，而这个行为 A_t 施加到环境上之后，又更新了环境，使其进入新的状态 S_{t+1}，进而引导下一个个体的下一个行为。简单来说，就是‘工作媒介刺激了下一步的工作’，环境本身就是最完美的、分布式的共享内存（Shared Memory）！
这就引导出了‘涌现’（Emergence）的核心视角：简单的个体通过极其简单的、基于局部环境的规则，在不需要全局视图（Global View）的情况下，在宏观上自发涌现出超越个体的智慧与秩序。这不仅是生物学的奇迹，更是我们人工群体智能（Swarm Intelligence）的黄金设计准则。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如我们刚才在泥蜂筑巢中所看到的，个体通过改变物理环境来进行间接协作。在群体智能中，这种非直接协同（Stigmergy）机制其实有两个非常经典的分类，也就是我们今天的主角——定量非直接协同与定性非直接协同。它们就像是群体智能的双子星。
我们先来看左边的这一位：定量非直接协同（Quantitative Stigmergy）。这里的“定量”是指，环境中留下的刺激信号在“质”上是没有区别的，唯一的区别在于“量”，也就是强度的不同。
比如，信息素的浓度高低，或者泥土堆积的高度。对个体而言，刺激越强，触发下一步动作的概率就越大。这种机制背后主导的是自组织动力学（Self-organization），它不依赖复杂的规则，而是通过简单的概率正反馈（Positive Feedback）来形成宏观秩序。
最直观的物理隐喻就是蚁群的路径规划或者堆沙效应。蚂蚁并不会在路口写字，它们只是释放信息素。信息素浓度越高，后面的蚂蚁选择这条路的可能性就越大。这完全是一个“量变引起质变”的过程。
接下来，我们把目光转向右边——定性非直接协同（Qualitative Stigmergy）。与定量不同，这里的刺激信号存在着离散的、本质上的“质”的差异。
这意味着，不同的局部物理拓扑结构，会像“开关”一样，直接触发智能体做出完全不同的后续动作。这种动力学我们称之为自装配动力学（Self-assembling），它更强调结构和形貌的精准控制。
白蚁筑拱和蜜蜂构建精密的六角形蜂巢就是典型代表。白蚁在筑巢时，会根据泥土堆砌出的特定物理几何拓扑，来决定是继续往上垒，还是横向合拢成拱门。这种“看形做事”的本领，就是定性协同的精髓。
简单来说，定量靠“浓度和概率”，定性靠“结构和规则”。理解了这两个概念，我们就拿到了打开复杂群体智能大门的钥匙。下面，让我们深入第一种机制，去看看白蚁是如何仅凭相变与分岔（Bifurcation）筑起宏伟拱门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同学们，在完成了前面所有的理论学习与动手实践之后，我们这门课也终于迎来了最核心的收官篇章：从生物机制到人工群体智能的真正尾声。
回顾我们整堂课的旅程，我们首先立足于生物学的基石。从最初探索超个体的未解之谜，到深入剖析 Grassé 提出的 Stigmergy 假说。我们共同见证了白蚁筑拱的定量相变、胡蜂筑巢的定性规则，再到蚂蚁垃圾分类、蜂巢同心圆分布、以及超越昆虫的气味地标和人类踩出的小路。这其中的核心信条只有一个：个体把痕迹写进环境，环境反过来协调个体，从而极为优雅地化解了‘协同悖论’。
正如著名学者 Theraulaz 曾做出的伟大预言：Stigmergy 的巨大潜力在生物学界仍远未被挖掘，而‘人工科学’会更乐于拥抱它。如今，我们正在兑现这一预言。从经典的蚁群优化算法、群体机器人系统，到多智能体路径规划，乃至我们人类社会的大规模开源协作，Stigmergy 已经拥有了无数工程化的身躯。
在课程的最后，我想留给未来的系统架构师们一个终极思考。在这个充斥着分布式、去中心化需求的时代，我们习惯了用‘中心协调器’来解决问题，但这往往伴随着单点故障和性能瓶颈。那么，在你们未来设计或正在维护的系统里，有哪些‘中心协调器’，是可以被换成‘环境媒介’的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016" b="1" dirty="0">
                <a:solidFill>
                  <a:srgbClr val="0F172A"/>
                </a:solidFill>
                <a:latin typeface="Microsoft YaHei" pitchFamily="34" charset="0"/>
                <a:ea typeface="Microsoft YaHei" pitchFamily="34" charset="-122"/>
                <a:cs typeface="Microsoft YaHei" pitchFamily="34" charset="-120"/>
              </a:rPr>
              <a:t>涌现与非直接协同：自组织的工程启示</a:t>
            </a:r>
            <a:endParaRPr lang="en-US" sz="1152" dirty="0"/>
          </a:p>
        </p:txBody>
      </p:sp>
      <p:sp>
        <p:nvSpPr>
          <p:cNvPr id="4" name="Shape 1"/>
          <p:cNvSpPr/>
          <p:nvPr/>
        </p:nvSpPr>
        <p:spPr>
          <a:xfrm>
            <a:off x="640080" y="1088136"/>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3B82F6"/>
          </a:solidFill>
          <a:ln/>
        </p:spPr>
      </p:sp>
      <p:sp>
        <p:nvSpPr>
          <p:cNvPr id="5" name="Shape 2"/>
          <p:cNvSpPr/>
          <p:nvPr/>
        </p:nvSpPr>
        <p:spPr>
          <a:xfrm>
            <a:off x="548640" y="1280160"/>
            <a:ext cx="3749040" cy="3337560"/>
          </a:xfrm>
          <a:custGeom>
            <a:avLst/>
            <a:gdLst/>
            <a:ahLst/>
            <a:cxnLst/>
            <a:rect l="l" t="t" r="r" b="b"/>
            <a:pathLst>
              <a:path w="3749040" h="3337560">
                <a:moveTo>
                  <a:pt x="0" y="0"/>
                </a:moveTo>
                <a:lnTo>
                  <a:pt x="3749040" y="0"/>
                </a:lnTo>
                <a:lnTo>
                  <a:pt x="3749040" y="3337560"/>
                </a:lnTo>
                <a:lnTo>
                  <a:pt x="0" y="3337560"/>
                </a:lnTo>
                <a:close/>
              </a:path>
            </a:pathLst>
          </a:custGeom>
          <a:solidFill>
            <a:srgbClr val="F1F5F9"/>
          </a:solidFill>
          <a:ln/>
        </p:spPr>
      </p:sp>
      <p:sp>
        <p:nvSpPr>
          <p:cNvPr id="6" name="Text 3"/>
          <p:cNvSpPr/>
          <p:nvPr/>
        </p:nvSpPr>
        <p:spPr>
          <a:xfrm>
            <a:off x="731520" y="1463040"/>
            <a:ext cx="338328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E3A8A"/>
                </a:solidFill>
                <a:latin typeface="Microsoft YaHei" pitchFamily="34" charset="0"/>
                <a:ea typeface="Microsoft YaHei" pitchFamily="34" charset="-122"/>
                <a:cs typeface="Microsoft YaHei" pitchFamily="34" charset="-120"/>
              </a:rPr>
              <a:t>核心机制：协同悖论 (Coordination Paradox)</a:t>
            </a:r>
            <a:endParaRPr lang="en-US" sz="1152" dirty="0"/>
          </a:p>
        </p:txBody>
      </p:sp>
      <p:sp>
        <p:nvSpPr>
          <p:cNvPr id="7" name="Shape 4"/>
          <p:cNvSpPr/>
          <p:nvPr/>
        </p:nvSpPr>
        <p:spPr>
          <a:xfrm>
            <a:off x="731520" y="1965960"/>
            <a:ext cx="3383280" cy="18288"/>
          </a:xfrm>
          <a:custGeom>
            <a:avLst/>
            <a:gdLst/>
            <a:ahLst/>
            <a:cxnLst/>
            <a:rect l="l" t="t" r="r" b="b"/>
            <a:pathLst>
              <a:path w="3383280" h="18288">
                <a:moveTo>
                  <a:pt x="0" y="0"/>
                </a:moveTo>
                <a:lnTo>
                  <a:pt x="3383280" y="0"/>
                </a:lnTo>
                <a:lnTo>
                  <a:pt x="3383280" y="18288"/>
                </a:lnTo>
                <a:lnTo>
                  <a:pt x="0" y="18288"/>
                </a:lnTo>
                <a:close/>
              </a:path>
            </a:pathLst>
          </a:custGeom>
          <a:solidFill>
            <a:srgbClr val="CBD5E1"/>
          </a:solidFill>
          <a:ln/>
        </p:spPr>
      </p:sp>
      <p:sp>
        <p:nvSpPr>
          <p:cNvPr id="8" name="Text 5"/>
          <p:cNvSpPr/>
          <p:nvPr/>
        </p:nvSpPr>
        <p:spPr>
          <a:xfrm>
            <a:off x="731520" y="2057400"/>
            <a:ext cx="338328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008" b="1" dirty="0">
                <a:solidFill>
                  <a:srgbClr val="334155"/>
                </a:solidFill>
                <a:latin typeface="Microsoft YaHei" pitchFamily="34" charset="0"/>
                <a:ea typeface="Microsoft YaHei" pitchFamily="34" charset="-122"/>
                <a:cs typeface="Microsoft YaHei" pitchFamily="34" charset="-120"/>
              </a:rPr>
              <a:t>个体独立性</a:t>
            </a:r>
            <a:pPr indent="0" marL="0">
              <a:lnSpc>
                <a:spcPct val="120000"/>
              </a:lnSpc>
              <a:spcBef>
                <a:spcPts val="360"/>
              </a:spcBef>
              <a:buNone/>
            </a:pPr>
            <a:r>
              <a:rPr lang="en-US" sz="1008" dirty="0">
                <a:solidFill>
                  <a:srgbClr val="334155"/>
                </a:solidFill>
                <a:latin typeface="Microsoft YaHei" pitchFamily="34" charset="0"/>
                <a:ea typeface="Microsoft YaHei" pitchFamily="34" charset="-122"/>
                <a:cs typeface="Microsoft YaHei" pitchFamily="34" charset="-120"/>
              </a:rPr>
              <a:t>：个体间无直接通信（如触觉或视觉信号），仿佛在独自工作。</a:t>
            </a:r>
            <a:endParaRPr lang="en-US" sz="1152" dirty="0"/>
          </a:p>
          <a:p>
            <a:pPr indent="0" marL="0">
              <a:lnSpc>
                <a:spcPct val="120000"/>
              </a:lnSpc>
              <a:spcBef>
                <a:spcPts val="360"/>
              </a:spcBef>
              <a:buNone/>
            </a:pPr>
            <a:r>
              <a:rPr lang="en-US" sz="1008"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008" b="1" dirty="0">
                <a:solidFill>
                  <a:srgbClr val="334155"/>
                </a:solidFill>
                <a:latin typeface="Microsoft YaHei" pitchFamily="34" charset="0"/>
                <a:ea typeface="Microsoft YaHei" pitchFamily="34" charset="-122"/>
                <a:cs typeface="Microsoft YaHei" pitchFamily="34" charset="-120"/>
              </a:rPr>
              <a:t>集体有序性</a:t>
            </a:r>
            <a:pPr indent="0" marL="0">
              <a:lnSpc>
                <a:spcPct val="120000"/>
              </a:lnSpc>
              <a:spcBef>
                <a:spcPts val="360"/>
              </a:spcBef>
              <a:buNone/>
            </a:pPr>
            <a:r>
              <a:rPr lang="en-US" sz="1008" dirty="0">
                <a:solidFill>
                  <a:srgbClr val="334155"/>
                </a:solidFill>
                <a:latin typeface="Microsoft YaHei" pitchFamily="34" charset="0"/>
                <a:ea typeface="Microsoft YaHei" pitchFamily="34" charset="-122"/>
                <a:cs typeface="Microsoft YaHei" pitchFamily="34" charset="-120"/>
              </a:rPr>
              <a:t>：宏观筑巢表现出高度的自组织与精确的时空一致性。</a:t>
            </a:r>
            <a:endParaRPr lang="en-US" sz="1152" dirty="0"/>
          </a:p>
          <a:p>
            <a:pPr indent="0" marL="0">
              <a:lnSpc>
                <a:spcPct val="120000"/>
              </a:lnSpc>
              <a:spcBef>
                <a:spcPts val="360"/>
              </a:spcBef>
              <a:buNone/>
            </a:pPr>
            <a:r>
              <a:rPr lang="en-US" sz="1008"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008" b="1" dirty="0">
                <a:solidFill>
                  <a:srgbClr val="334155"/>
                </a:solidFill>
                <a:latin typeface="Microsoft YaHei" pitchFamily="34" charset="0"/>
                <a:ea typeface="Microsoft YaHei" pitchFamily="34" charset="-122"/>
                <a:cs typeface="Microsoft YaHei" pitchFamily="34" charset="-120"/>
              </a:rPr>
              <a:t>工程谜题</a:t>
            </a:r>
            <a:pPr indent="0" marL="0">
              <a:lnSpc>
                <a:spcPct val="120000"/>
              </a:lnSpc>
              <a:spcBef>
                <a:spcPts val="360"/>
              </a:spcBef>
              <a:buNone/>
            </a:pPr>
            <a:r>
              <a:rPr lang="en-US" sz="1008" dirty="0">
                <a:solidFill>
                  <a:srgbClr val="334155"/>
                </a:solidFill>
                <a:latin typeface="Microsoft YaHei" pitchFamily="34" charset="0"/>
                <a:ea typeface="Microsoft YaHei" pitchFamily="34" charset="-122"/>
                <a:cs typeface="Microsoft YaHei" pitchFamily="34" charset="-120"/>
              </a:rPr>
              <a:t>：在无“全局蓝图”与“中央指挥”下如何实现复杂协同？</a:t>
            </a:r>
            <a:endParaRPr lang="en-US" sz="1152" dirty="0"/>
          </a:p>
        </p:txBody>
      </p:sp>
      <p:sp>
        <p:nvSpPr>
          <p:cNvPr id="9" name="Shape 6"/>
          <p:cNvSpPr/>
          <p:nvPr/>
        </p:nvSpPr>
        <p:spPr>
          <a:xfrm>
            <a:off x="731520" y="3474720"/>
            <a:ext cx="3383280" cy="960120"/>
          </a:xfrm>
          <a:custGeom>
            <a:avLst/>
            <a:gdLst/>
            <a:ahLst/>
            <a:cxnLst/>
            <a:rect l="l" t="t" r="r" b="b"/>
            <a:pathLst>
              <a:path w="3383280" h="960120">
                <a:moveTo>
                  <a:pt x="0" y="0"/>
                </a:moveTo>
                <a:lnTo>
                  <a:pt x="3383280" y="0"/>
                </a:lnTo>
                <a:lnTo>
                  <a:pt x="3383280" y="960120"/>
                </a:lnTo>
                <a:lnTo>
                  <a:pt x="0" y="960120"/>
                </a:lnTo>
                <a:close/>
              </a:path>
            </a:pathLst>
          </a:custGeom>
          <a:solidFill>
            <a:srgbClr val="FFF7ED"/>
          </a:solidFill>
          <a:ln/>
        </p:spPr>
      </p:sp>
      <p:sp>
        <p:nvSpPr>
          <p:cNvPr id="10" name="Text 7"/>
          <p:cNvSpPr/>
          <p:nvPr/>
        </p:nvSpPr>
        <p:spPr>
          <a:xfrm>
            <a:off x="868680" y="3566160"/>
            <a:ext cx="3108960" cy="77724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C2410C"/>
                </a:solidFill>
                <a:latin typeface="Microsoft YaHei" pitchFamily="34" charset="0"/>
                <a:ea typeface="Microsoft YaHei" pitchFamily="34" charset="-122"/>
                <a:cs typeface="Microsoft YaHei" pitchFamily="34" charset="-120"/>
              </a:rPr>
              <a:t>💡 涌现 (Emergence) 视角：</a:t>
            </a:r>
            <a:endParaRPr lang="en-US" sz="1152" dirty="0"/>
          </a:p>
          <a:p>
            <a:pPr algn="ctr" indent="0" marL="0">
              <a:lnSpc>
                <a:spcPct val="120000"/>
              </a:lnSpc>
              <a:spcBef>
                <a:spcPts val="360"/>
              </a:spcBef>
              <a:buNone/>
            </a:pPr>
            <a:r>
              <a:rPr lang="en-US" sz="936" dirty="0">
                <a:solidFill>
                  <a:srgbClr val="7C2D12"/>
                </a:solidFill>
                <a:latin typeface="Microsoft YaHei" pitchFamily="34" charset="0"/>
                <a:ea typeface="Microsoft YaHei" pitchFamily="34" charset="-122"/>
                <a:cs typeface="Microsoft YaHei" pitchFamily="34" charset="-120"/>
              </a:rPr>
              <a:t>简单个体通过局部规则，在宏观上自发涌现出超越个体的智慧与秩序。</a:t>
            </a:r>
            <a:endParaRPr lang="en-US" sz="1152" dirty="0"/>
          </a:p>
        </p:txBody>
      </p:sp>
      <p:sp>
        <p:nvSpPr>
          <p:cNvPr id="11" name="Shape 8"/>
          <p:cNvSpPr/>
          <p:nvPr/>
        </p:nvSpPr>
        <p:spPr>
          <a:xfrm>
            <a:off x="4663440" y="1280160"/>
            <a:ext cx="3931920" cy="1463040"/>
          </a:xfrm>
          <a:custGeom>
            <a:avLst/>
            <a:gdLst/>
            <a:ahLst/>
            <a:cxnLst/>
            <a:rect l="l" t="t" r="r" b="b"/>
            <a:pathLst>
              <a:path w="3931920" h="1463040">
                <a:moveTo>
                  <a:pt x="0" y="0"/>
                </a:moveTo>
                <a:lnTo>
                  <a:pt x="3931920" y="0"/>
                </a:lnTo>
                <a:lnTo>
                  <a:pt x="3931920" y="1463040"/>
                </a:lnTo>
                <a:lnTo>
                  <a:pt x="0" y="1463040"/>
                </a:lnTo>
                <a:close/>
              </a:path>
            </a:pathLst>
          </a:custGeom>
          <a:solidFill>
            <a:srgbClr val="F8FAFC"/>
          </a:solidFill>
          <a:ln/>
        </p:spPr>
      </p:sp>
      <p:sp>
        <p:nvSpPr>
          <p:cNvPr id="12" name="Text 9"/>
          <p:cNvSpPr/>
          <p:nvPr/>
        </p:nvSpPr>
        <p:spPr>
          <a:xfrm>
            <a:off x="4846320" y="1426464"/>
            <a:ext cx="3566160" cy="11612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80" b="1" dirty="0">
                <a:solidFill>
                  <a:srgbClr val="0F172A"/>
                </a:solidFill>
                <a:latin typeface="Microsoft YaHei" pitchFamily="34" charset="0"/>
                <a:ea typeface="Microsoft YaHei" pitchFamily="34" charset="-122"/>
                <a:cs typeface="Microsoft YaHei" pitchFamily="34" charset="-120"/>
              </a:rPr>
              <a:t>历史之争：如何解释这一悖论？</a:t>
            </a:r>
            <a:endParaRPr lang="en-US" sz="1152" dirty="0"/>
          </a:p>
          <a:p>
            <a:pPr indent="0" marL="0">
              <a:lnSpc>
                <a:spcPct val="120000"/>
              </a:lnSpc>
              <a:spcBef>
                <a:spcPts val="360"/>
              </a:spcBef>
              <a:buNone/>
            </a:pPr>
            <a:r>
              <a:rPr lang="en-US" sz="936"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936" b="1" dirty="0">
                <a:solidFill>
                  <a:srgbClr val="475569"/>
                </a:solidFill>
                <a:latin typeface="Microsoft YaHei" pitchFamily="34" charset="0"/>
                <a:ea typeface="Microsoft YaHei" pitchFamily="34" charset="-122"/>
                <a:cs typeface="Microsoft YaHei" pitchFamily="34" charset="-120"/>
              </a:rPr>
              <a:t>超个体论 (Superorganism)</a:t>
            </a:r>
            <a:pPr indent="0" marL="0">
              <a:lnSpc>
                <a:spcPct val="120000"/>
              </a:lnSpc>
              <a:spcBef>
                <a:spcPts val="360"/>
              </a:spcBef>
              <a:buNone/>
            </a:pPr>
            <a:r>
              <a:rPr lang="en-US" sz="936" dirty="0">
                <a:solidFill>
                  <a:srgbClr val="475569"/>
                </a:solidFill>
                <a:latin typeface="Microsoft YaHei" pitchFamily="34" charset="0"/>
                <a:ea typeface="Microsoft YaHei" pitchFamily="34" charset="-122"/>
                <a:cs typeface="Microsoft YaHei" pitchFamily="34" charset="-120"/>
              </a:rPr>
              <a:t>：假想群体存在某种超自然的“集体心智”，无法用物理与生物机制实证。</a:t>
            </a:r>
            <a:endParaRPr lang="en-US" sz="1152" dirty="0"/>
          </a:p>
          <a:p>
            <a:pPr indent="0" marL="0">
              <a:lnSpc>
                <a:spcPct val="120000"/>
              </a:lnSpc>
              <a:spcBef>
                <a:spcPts val="360"/>
              </a:spcBef>
              <a:buNone/>
            </a:pPr>
            <a:r>
              <a:rPr lang="en-US" sz="936"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936" b="1" dirty="0">
                <a:solidFill>
                  <a:srgbClr val="475569"/>
                </a:solidFill>
                <a:latin typeface="Microsoft YaHei" pitchFamily="34" charset="0"/>
                <a:ea typeface="Microsoft YaHei" pitchFamily="34" charset="-122"/>
                <a:cs typeface="Microsoft YaHei" pitchFamily="34" charset="-120"/>
              </a:rPr>
              <a:t>独立个体论 (Rabaud)</a:t>
            </a:r>
            <a:pPr indent="0" marL="0">
              <a:lnSpc>
                <a:spcPct val="120000"/>
              </a:lnSpc>
              <a:spcBef>
                <a:spcPts val="360"/>
              </a:spcBef>
              <a:buNone/>
            </a:pPr>
            <a:r>
              <a:rPr lang="en-US" sz="936" dirty="0">
                <a:solidFill>
                  <a:srgbClr val="475569"/>
                </a:solidFill>
                <a:latin typeface="Microsoft YaHei" pitchFamily="34" charset="0"/>
                <a:ea typeface="Microsoft YaHei" pitchFamily="34" charset="-122"/>
                <a:cs typeface="Microsoft YaHei" pitchFamily="34" charset="-120"/>
              </a:rPr>
              <a:t>：主张个体完全独立响应环境，但无法合理解释宏观结构的精确对齐。</a:t>
            </a:r>
            <a:endParaRPr lang="en-US" sz="1152" dirty="0"/>
          </a:p>
        </p:txBody>
      </p:sp>
      <p:sp>
        <p:nvSpPr>
          <p:cNvPr id="13" name="Shape 10"/>
          <p:cNvSpPr/>
          <p:nvPr/>
        </p:nvSpPr>
        <p:spPr>
          <a:xfrm>
            <a:off x="6629400" y="2798064"/>
            <a:ext cx="0" cy="256032"/>
          </a:xfrm>
          <a:custGeom>
            <a:avLst/>
            <a:gdLst/>
            <a:ahLst/>
            <a:cxnLst/>
            <a:rect l="l" t="t" r="r" b="b"/>
            <a:pathLst>
              <a:path w="0" h="256032">
                <a:moveTo>
                  <a:pt x="0" y="0"/>
                </a:moveTo>
                <a:lnTo>
                  <a:pt x="0" y="256032"/>
                </a:lnTo>
              </a:path>
            </a:pathLst>
          </a:custGeom>
          <a:noFill/>
          <a:ln w="18288">
            <a:solidFill>
              <a:srgbClr val="3B82F6"/>
            </a:solidFill>
            <a:prstDash val="solid"/>
            <a:headEnd type="none"/>
            <a:tailEnd type="arrow"/>
          </a:ln>
        </p:spPr>
      </p:sp>
      <p:sp>
        <p:nvSpPr>
          <p:cNvPr id="14" name="Shape 11"/>
          <p:cNvSpPr/>
          <p:nvPr/>
        </p:nvSpPr>
        <p:spPr>
          <a:xfrm>
            <a:off x="4663440" y="3108960"/>
            <a:ext cx="3931920" cy="1508760"/>
          </a:xfrm>
          <a:custGeom>
            <a:avLst/>
            <a:gdLst/>
            <a:ahLst/>
            <a:cxnLst/>
            <a:rect l="l" t="t" r="r" b="b"/>
            <a:pathLst>
              <a:path w="3931920" h="1508760">
                <a:moveTo>
                  <a:pt x="0" y="0"/>
                </a:moveTo>
                <a:lnTo>
                  <a:pt x="3931920" y="0"/>
                </a:lnTo>
                <a:lnTo>
                  <a:pt x="3931920" y="1508760"/>
                </a:lnTo>
                <a:lnTo>
                  <a:pt x="0" y="1508760"/>
                </a:lnTo>
                <a:close/>
              </a:path>
            </a:pathLst>
          </a:custGeom>
          <a:solidFill>
            <a:srgbClr val="EFF6FF"/>
          </a:solidFill>
          <a:ln/>
        </p:spPr>
      </p:sp>
      <p:sp>
        <p:nvSpPr>
          <p:cNvPr id="15" name="Shape 12"/>
          <p:cNvSpPr/>
          <p:nvPr/>
        </p:nvSpPr>
        <p:spPr>
          <a:xfrm>
            <a:off x="4663440" y="3108960"/>
            <a:ext cx="36576" cy="1508760"/>
          </a:xfrm>
          <a:custGeom>
            <a:avLst/>
            <a:gdLst/>
            <a:ahLst/>
            <a:cxnLst/>
            <a:rect l="l" t="t" r="r" b="b"/>
            <a:pathLst>
              <a:path w="36576" h="1508760">
                <a:moveTo>
                  <a:pt x="0" y="0"/>
                </a:moveTo>
                <a:lnTo>
                  <a:pt x="36576" y="0"/>
                </a:lnTo>
                <a:lnTo>
                  <a:pt x="36576" y="1508760"/>
                </a:lnTo>
                <a:lnTo>
                  <a:pt x="0" y="1508760"/>
                </a:lnTo>
                <a:close/>
              </a:path>
            </a:pathLst>
          </a:custGeom>
          <a:solidFill>
            <a:srgbClr val="2563EB"/>
          </a:solidFill>
          <a:ln/>
        </p:spPr>
      </p:sp>
      <p:sp>
        <p:nvSpPr>
          <p:cNvPr id="16" name="Text 13"/>
          <p:cNvSpPr/>
          <p:nvPr/>
        </p:nvSpPr>
        <p:spPr>
          <a:xfrm>
            <a:off x="4846320" y="3182112"/>
            <a:ext cx="356616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80" b="1" dirty="0">
                <a:solidFill>
                  <a:srgbClr val="1E3A8A"/>
                </a:solidFill>
                <a:latin typeface="Microsoft YaHei" pitchFamily="34" charset="0"/>
                <a:ea typeface="Microsoft YaHei" pitchFamily="34" charset="-122"/>
                <a:cs typeface="Microsoft YaHei" pitchFamily="34" charset="-120"/>
              </a:rPr>
              <a:t>非直接协同 (Stigmergy) 的状态机模型</a:t>
            </a:r>
            <a:endParaRPr lang="en-US" sz="1152" dirty="0"/>
          </a:p>
        </p:txBody>
      </p:sp>
      <mc:AlternateContent xmlns:mc="http://schemas.openxmlformats.org/markup-compatibility/2006">
        <mc:Choice Requires="a14">
          <p:sp>
            <p:nvSpPr>
              <p:cNvPr id="17" name="Formula 0"/>
              <p:cNvSpPr/>
              <p:nvPr/>
            </p:nvSpPr>
            <p:spPr>
              <a:xfrm>
                <a:off x="4846320" y="3621024"/>
                <a:ext cx="3566160" cy="502920"/>
              </a:xfrm>
              <a:prstGeom prst="rect">
                <a:avLst/>
              </a:prstGeom>
            </p:spPr>
            <p:txBody>
              <a:bodyPr wrap="square" rtlCol="0">
                <a:spAutoFit/>
              </a:bodyPr>
              <a:lstStyle/>
              <a:p>
                <a:pPr>
                  <a:defRPr sz="1300"/>
                </a:pPr>
                <a14:m>
                  <m:oMathPara>
                    <m:oMathParaPr>
                      <m:jc m:val="centerGroup"/>
                    </m:oMathParaPr>
                    <m:oMath>
                      <m:sSub>
                        <m:sSubPr>
                          <m:ctrlPr>
                            <a:rPr lang="en-US" i="1" sz="1300">
                              <a:latin typeface="Cambria Math" panose="02040503050406030204" charset="0"/>
                              <a:cs typeface="Cambria Math" panose="02040503050406030204" charset="0"/>
                            </a:rPr>
                          </m:ctrlPr>
                        </m:sSubPr>
                        <m:e>
                          <m:r>
                            <a:rPr lang="en-US" i="1" sz="1300">
                              <a:latin typeface="Cambria Math" panose="02040503050406030204" charset="0"/>
                              <a:cs typeface="Cambria Math" panose="02040503050406030204" charset="0"/>
                            </a:rPr>
                            <m:t xml:space="preserve">S</m:t>
                          </m:r>
                        </m:e>
                        <m:sub>
                          <m:r>
                            <a:rPr lang="en-US" i="1" sz="1300">
                              <a:latin typeface="Cambria Math" panose="02040503050406030204" charset="0"/>
                              <a:cs typeface="Cambria Math" panose="02040503050406030204" charset="0"/>
                            </a:rPr>
                            <m:t xml:space="preserve">t</m:t>
                          </m:r>
                        </m:sub>
                      </m:sSub>
                      <m:r>
                        <a:rPr lang="en-US" i="1" sz="1300">
                          <a:latin typeface="Cambria Math" panose="02040503050406030204" charset="0"/>
                          <a:cs typeface="Cambria Math" panose="02040503050406030204" charset="0"/>
                        </a:rPr>
                        <m:t xml:space="preserve"> </m:t>
                      </m:r>
                      <m:limUpp>
                        <m:e>
                          <m:r>
                            <a:rPr lang="en-US" i="1" sz="1300">
                              <a:latin typeface="Cambria Math" panose="02040503050406030204" charset="0"/>
                              <a:cs typeface="Cambria Math" panose="02040503050406030204" charset="0"/>
                            </a:rPr>
                            <m:t xml:space="preserve">→</m:t>
                          </m:r>
                        </m:e>
                        <m:lim>
                          <m:limUpp>
                            <m:e>
                              <m:r>
                                <a:rPr lang="en-US" i="1" sz="1300">
                                  <a:latin typeface="Cambria Math" panose="02040503050406030204" charset="0"/>
                                  <a:cs typeface="Cambria Math" panose="02040503050406030204" charset="0"/>
                                </a:rPr>
                                <m:t xml:space="preserve"> </m:t>
                              </m:r>
                              <m:r>
                                <a:rPr lang="en-US" i="1" sz="1300">
                                  <a:latin typeface="Cambria Math" panose="02040503050406030204" charset="0"/>
                                  <a:cs typeface="Cambria Math" panose="02040503050406030204" charset="0"/>
                                </a:rPr>
                                <m:t xml:space="preserve"> </m:t>
                              </m:r>
                              <m:r>
                                <m:rPr>
                                  <m:nor/>
                                </m:rPr>
                                <m:t xml:space="preserve">Stimulate</m:t>
                              </m:r>
                              <m:r>
                                <a:rPr lang="en-US" i="1" sz="1300">
                                  <a:latin typeface="Cambria Math" panose="02040503050406030204" charset="0"/>
                                  <a:cs typeface="Cambria Math" panose="02040503050406030204" charset="0"/>
                                </a:rPr>
                                <m:t xml:space="preserve"> </m:t>
                              </m:r>
                              <m:r>
                                <a:rPr lang="en-US" i="1" sz="1300">
                                  <a:latin typeface="Cambria Math" panose="02040503050406030204" charset="0"/>
                                  <a:cs typeface="Cambria Math" panose="02040503050406030204" charset="0"/>
                                </a:rPr>
                                <m:t xml:space="preserve"> </m:t>
                              </m:r>
                            </m:e>
                            <m:lim>
                              <m:r>
                                <a:rPr lang="en-US" i="1" sz="1300">
                                  <a:latin typeface="Cambria Math" panose="02040503050406030204" charset="0"/>
                                  <a:cs typeface="Cambria Math" panose="02040503050406030204" charset="0"/>
                                </a:rPr>
                                <m:t xml:space="preserve"> </m:t>
                              </m:r>
                            </m:lim>
                          </m:limUpp>
                        </m:lim>
                      </m:limUpp>
                      <m:r>
                        <a:rPr lang="en-US" i="1" sz="1300">
                          <a:latin typeface="Cambria Math" panose="02040503050406030204" charset="0"/>
                          <a:cs typeface="Cambria Math" panose="02040503050406030204" charset="0"/>
                        </a:rPr>
                        <m:t xml:space="preserve"> </m:t>
                      </m:r>
                      <m:sSub>
                        <m:sSubPr>
                          <m:ctrlPr>
                            <a:rPr lang="en-US" i="1" sz="1300">
                              <a:latin typeface="Cambria Math" panose="02040503050406030204" charset="0"/>
                              <a:cs typeface="Cambria Math" panose="02040503050406030204" charset="0"/>
                            </a:rPr>
                          </m:ctrlPr>
                        </m:sSubPr>
                        <m:e>
                          <m:r>
                            <a:rPr lang="en-US" i="1" sz="1300">
                              <a:latin typeface="Cambria Math" panose="02040503050406030204" charset="0"/>
                              <a:cs typeface="Cambria Math" panose="02040503050406030204" charset="0"/>
                            </a:rPr>
                            <m:t xml:space="preserve">A</m:t>
                          </m:r>
                        </m:e>
                        <m:sub>
                          <m:r>
                            <a:rPr lang="en-US" i="1" sz="1300">
                              <a:latin typeface="Cambria Math" panose="02040503050406030204" charset="0"/>
                              <a:cs typeface="Cambria Math" panose="02040503050406030204" charset="0"/>
                            </a:rPr>
                            <m:t xml:space="preserve">t</m:t>
                          </m:r>
                        </m:sub>
                      </m:sSub>
                      <m:r>
                        <a:rPr lang="en-US" i="1" sz="1300">
                          <a:latin typeface="Cambria Math" panose="02040503050406030204" charset="0"/>
                          <a:cs typeface="Cambria Math" panose="02040503050406030204" charset="0"/>
                        </a:rPr>
                        <m:t xml:space="preserve"> </m:t>
                      </m:r>
                      <m:limUpp>
                        <m:e>
                          <m:r>
                            <a:rPr lang="en-US" i="1" sz="1300">
                              <a:latin typeface="Cambria Math" panose="02040503050406030204" charset="0"/>
                              <a:cs typeface="Cambria Math" panose="02040503050406030204" charset="0"/>
                            </a:rPr>
                            <m:t xml:space="preserve">→</m:t>
                          </m:r>
                        </m:e>
                        <m:lim>
                          <m:limUpp>
                            <m:e>
                              <m:r>
                                <a:rPr lang="en-US" i="1" sz="1300">
                                  <a:latin typeface="Cambria Math" panose="02040503050406030204" charset="0"/>
                                  <a:cs typeface="Cambria Math" panose="02040503050406030204" charset="0"/>
                                </a:rPr>
                                <m:t xml:space="preserve"> </m:t>
                              </m:r>
                              <m:r>
                                <a:rPr lang="en-US" i="1" sz="1300">
                                  <a:latin typeface="Cambria Math" panose="02040503050406030204" charset="0"/>
                                  <a:cs typeface="Cambria Math" panose="02040503050406030204" charset="0"/>
                                </a:rPr>
                                <m:t xml:space="preserve"> </m:t>
                              </m:r>
                              <m:r>
                                <m:rPr>
                                  <m:nor/>
                                </m:rPr>
                                <m:t xml:space="preserve">Modify</m:t>
                              </m:r>
                              <m:r>
                                <a:rPr lang="en-US" i="1" sz="1300">
                                  <a:latin typeface="Cambria Math" panose="02040503050406030204" charset="0"/>
                                  <a:cs typeface="Cambria Math" panose="02040503050406030204" charset="0"/>
                                </a:rPr>
                                <m:t xml:space="preserve"> </m:t>
                              </m:r>
                              <m:r>
                                <a:rPr lang="en-US" i="1" sz="1300">
                                  <a:latin typeface="Cambria Math" panose="02040503050406030204" charset="0"/>
                                  <a:cs typeface="Cambria Math" panose="02040503050406030204" charset="0"/>
                                </a:rPr>
                                <m:t xml:space="preserve"> </m:t>
                              </m:r>
                            </m:e>
                            <m:lim>
                              <m:r>
                                <a:rPr lang="en-US" i="1" sz="1300">
                                  <a:latin typeface="Cambria Math" panose="02040503050406030204" charset="0"/>
                                  <a:cs typeface="Cambria Math" panose="02040503050406030204" charset="0"/>
                                </a:rPr>
                                <m:t xml:space="preserve"> </m:t>
                              </m:r>
                            </m:lim>
                          </m:limUpp>
                        </m:lim>
                      </m:limUpp>
                      <m:r>
                        <a:rPr lang="en-US" i="1" sz="1300">
                          <a:latin typeface="Cambria Math" panose="02040503050406030204" charset="0"/>
                          <a:cs typeface="Cambria Math" panose="02040503050406030204" charset="0"/>
                        </a:rPr>
                        <m:t xml:space="preserve"> </m:t>
                      </m:r>
                      <m:sSub>
                        <m:sSubPr>
                          <m:ctrlPr>
                            <a:rPr lang="en-US" i="1" sz="1300">
                              <a:latin typeface="Cambria Math" panose="02040503050406030204" charset="0"/>
                              <a:cs typeface="Cambria Math" panose="02040503050406030204" charset="0"/>
                            </a:rPr>
                          </m:ctrlPr>
                        </m:sSubPr>
                        <m:e>
                          <m:r>
                            <a:rPr lang="en-US" i="1" sz="1300">
                              <a:latin typeface="Cambria Math" panose="02040503050406030204" charset="0"/>
                              <a:cs typeface="Cambria Math" panose="02040503050406030204" charset="0"/>
                            </a:rPr>
                            <m:t xml:space="preserve">S</m:t>
                          </m:r>
                        </m:e>
                        <m:sub>
                          <m:r>
                            <a:rPr lang="en-US" i="1" sz="1300">
                              <a:latin typeface="Cambria Math" panose="02040503050406030204" charset="0"/>
                              <a:cs typeface="Cambria Math" panose="02040503050406030204" charset="0"/>
                            </a:rPr>
                            <m:t xml:space="preserve">t+1</m:t>
                          </m:r>
                        </m:sub>
                      </m:sSub>
                    </m:oMath>
                  </m:oMathPara>
                </a14:m>
              </a:p>
            </p:txBody>
          </p:sp>
        </mc:Choice>
        <mc:Fallback>
          <p:sp>
            <p:nvSpPr>
              <p:cNvPr id="17" name="Formula 0"/>
              <p:cNvSpPr/>
              <p:nvPr/>
            </p:nvSpPr>
            <p:spPr>
              <a:xfrm>
                <a:off x="4846320" y="3621024"/>
                <a:ext cx="3566160" cy="502920"/>
              </a:xfrm>
              <a:prstGeom prst="rect">
                <a:avLst/>
              </a:prstGeom>
            </p:spPr>
            <p:txBody>
              <a:bodyPr wrap="square" rtlCol="0">
                <a:spAutoFit/>
              </a:bodyPr>
              <a:lstStyle/>
              <a:p>
                <a:r>
                  <a:rPr lang="en-US" dirty="0"/>
                  <a:t>[Formula]</a:t>
                </a:r>
              </a:p>
            </p:txBody>
          </p:sp>
        </mc:Fallback>
      </mc:AlternateContent>
      <p:sp>
        <p:nvSpPr>
          <p:cNvPr id="18" name="Text 14"/>
          <p:cNvSpPr/>
          <p:nvPr/>
        </p:nvSpPr>
        <p:spPr>
          <a:xfrm>
            <a:off x="4846320" y="4169664"/>
            <a:ext cx="356616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936" dirty="0">
                <a:solidFill>
                  <a:srgbClr val="475569"/>
                </a:solidFill>
                <a:latin typeface="Microsoft YaHei" pitchFamily="34" charset="0"/>
                <a:ea typeface="Microsoft YaHei" pitchFamily="34" charset="-122"/>
                <a:cs typeface="Microsoft YaHei" pitchFamily="34" charset="-120"/>
              </a:rPr>
              <a:t>环境状态 S 引导行为 A，行为 A 进一步更新环境</a:t>
            </a:r>
            <a:endParaRPr lang="en-US" sz="115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457200"/>
            <a:ext cx="8046720" cy="58521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016" b="1" dirty="0">
                <a:solidFill>
                  <a:srgbClr val="0F172A"/>
                </a:solidFill>
                <a:latin typeface="Microsoft YaHei" pitchFamily="34" charset="0"/>
                <a:ea typeface="Microsoft YaHei" pitchFamily="34" charset="-122"/>
                <a:cs typeface="Microsoft YaHei" pitchFamily="34" charset="-120"/>
              </a:rPr>
              <a:t>非直接协同 (Stigmergy) 的双子星：定量与定性</a:t>
            </a:r>
            <a:endParaRPr lang="en-US" sz="1152" dirty="0"/>
          </a:p>
        </p:txBody>
      </p:sp>
      <p:sp>
        <p:nvSpPr>
          <p:cNvPr id="4" name="Text 1"/>
          <p:cNvSpPr/>
          <p:nvPr/>
        </p:nvSpPr>
        <p:spPr>
          <a:xfrm>
            <a:off x="548640" y="1005840"/>
            <a:ext cx="8046720" cy="42062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探讨定量与定性非直接协同的概念差异、自组织与自装配的物理隐喻</a:t>
            </a:r>
            <a:endParaRPr lang="en-US" sz="1152" dirty="0"/>
          </a:p>
        </p:txBody>
      </p:sp>
      <p:sp>
        <p:nvSpPr>
          <p:cNvPr id="5" name="Shape 2"/>
          <p:cNvSpPr/>
          <p:nvPr/>
        </p:nvSpPr>
        <p:spPr>
          <a:xfrm>
            <a:off x="548640" y="1426464"/>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CBD5E1"/>
          </a:solidFill>
          <a:ln/>
        </p:spPr>
      </p:sp>
      <p:sp>
        <p:nvSpPr>
          <p:cNvPr id="6" name="Shape 3"/>
          <p:cNvSpPr/>
          <p:nvPr/>
        </p:nvSpPr>
        <p:spPr>
          <a:xfrm>
            <a:off x="548640" y="1600200"/>
            <a:ext cx="3840480" cy="3063240"/>
          </a:xfrm>
          <a:custGeom>
            <a:avLst/>
            <a:gdLst/>
            <a:ahLst/>
            <a:cxnLst/>
            <a:rect l="l" t="t" r="r" b="b"/>
            <a:pathLst>
              <a:path w="3840480" h="3063240">
                <a:moveTo>
                  <a:pt x="0" y="0"/>
                </a:moveTo>
                <a:lnTo>
                  <a:pt x="3840480" y="0"/>
                </a:lnTo>
                <a:lnTo>
                  <a:pt x="3840480" y="3063240"/>
                </a:lnTo>
                <a:lnTo>
                  <a:pt x="0" y="3063240"/>
                </a:lnTo>
                <a:close/>
              </a:path>
            </a:pathLst>
          </a:custGeom>
          <a:solidFill>
            <a:srgbClr val="F0FDF4"/>
          </a:solidFill>
          <a:ln/>
        </p:spPr>
      </p:sp>
      <p:sp>
        <p:nvSpPr>
          <p:cNvPr id="7" name="Text 4"/>
          <p:cNvSpPr/>
          <p:nvPr/>
        </p:nvSpPr>
        <p:spPr>
          <a:xfrm>
            <a:off x="731520" y="1737360"/>
            <a:ext cx="3474720" cy="7498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166534"/>
                </a:solidFill>
                <a:latin typeface="Microsoft YaHei" pitchFamily="34" charset="0"/>
                <a:ea typeface="Microsoft YaHei" pitchFamily="34" charset="-122"/>
                <a:cs typeface="Microsoft YaHei" pitchFamily="34" charset="-120"/>
              </a:rPr>
              <a:t>定量非直接协同</a:t>
            </a:r>
            <a:endParaRPr lang="en-US" sz="1152" dirty="0"/>
          </a:p>
          <a:p>
            <a:pPr indent="0" marL="0">
              <a:lnSpc>
                <a:spcPct val="120000"/>
              </a:lnSpc>
              <a:spcBef>
                <a:spcPts val="360"/>
              </a:spcBef>
              <a:buNone/>
            </a:pPr>
            <a:r>
              <a:rPr lang="en-US" sz="1008" dirty="0">
                <a:solidFill>
                  <a:srgbClr val="15803D"/>
                </a:solidFill>
                <a:latin typeface="Microsoft YaHei" pitchFamily="34" charset="0"/>
                <a:ea typeface="Microsoft YaHei" pitchFamily="34" charset="-122"/>
                <a:cs typeface="Microsoft YaHei" pitchFamily="34" charset="-120"/>
              </a:rPr>
              <a:t>Quantitative Stigmergy</a:t>
            </a:r>
            <a:endParaRPr lang="en-US" sz="1152" dirty="0"/>
          </a:p>
        </p:txBody>
      </p:sp>
      <p:sp>
        <p:nvSpPr>
          <p:cNvPr id="8" name="Text 5"/>
          <p:cNvSpPr/>
          <p:nvPr/>
        </p:nvSpPr>
        <p:spPr>
          <a:xfrm>
            <a:off x="731520" y="2532888"/>
            <a:ext cx="347472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152" b="1" dirty="0">
                <a:solidFill>
                  <a:srgbClr val="334155"/>
                </a:solidFill>
                <a:latin typeface="Microsoft YaHei" pitchFamily="34" charset="0"/>
                <a:ea typeface="Microsoft YaHei" pitchFamily="34" charset="-122"/>
                <a:cs typeface="Microsoft YaHei" pitchFamily="34" charset="-120"/>
              </a:rPr>
              <a:t>无质的差异</a:t>
            </a:r>
            <a:pPr indent="0" marL="0">
              <a:lnSpc>
                <a:spcPct val="120000"/>
              </a:lnSpc>
              <a:spcBef>
                <a:spcPts val="360"/>
              </a:spcBef>
              <a:buNone/>
            </a:pPr>
            <a:r>
              <a:rPr lang="en-US" sz="1152" dirty="0">
                <a:solidFill>
                  <a:srgbClr val="334155"/>
                </a:solidFill>
                <a:latin typeface="Microsoft YaHei" pitchFamily="34" charset="0"/>
                <a:ea typeface="Microsoft YaHei" pitchFamily="34" charset="-122"/>
                <a:cs typeface="Microsoft YaHei" pitchFamily="34" charset="-120"/>
              </a:rPr>
              <a:t>：仅通过刺激强度（如信息素浓度、物理堆积高度）改变智能体的反应概率。</a:t>
            </a:r>
            <a:endParaRPr lang="en-US" sz="1152" dirty="0"/>
          </a:p>
          <a:p>
            <a:pPr indent="0" marL="0">
              <a:lnSpc>
                <a:spcPct val="120000"/>
              </a:lnSpc>
              <a:spcBef>
                <a:spcPts val="360"/>
              </a:spcBef>
              <a:buNone/>
            </a:pPr>
            <a:r>
              <a:rPr lang="en-US" sz="1152"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152" b="1" dirty="0">
                <a:solidFill>
                  <a:srgbClr val="334155"/>
                </a:solidFill>
                <a:latin typeface="Microsoft YaHei" pitchFamily="34" charset="0"/>
                <a:ea typeface="Microsoft YaHei" pitchFamily="34" charset="-122"/>
                <a:cs typeface="Microsoft YaHei" pitchFamily="34" charset="-120"/>
              </a:rPr>
              <a:t>自组织动力学</a:t>
            </a:r>
            <a:pPr indent="0" marL="0">
              <a:lnSpc>
                <a:spcPct val="120000"/>
              </a:lnSpc>
              <a:spcBef>
                <a:spcPts val="360"/>
              </a:spcBef>
              <a:buNone/>
            </a:pPr>
            <a:r>
              <a:rPr lang="en-US" sz="1152" dirty="0">
                <a:solidFill>
                  <a:srgbClr val="334155"/>
                </a:solidFill>
                <a:latin typeface="Microsoft YaHei" pitchFamily="34" charset="0"/>
                <a:ea typeface="Microsoft YaHei" pitchFamily="34" charset="-122"/>
                <a:cs typeface="Microsoft YaHei" pitchFamily="34" charset="-120"/>
              </a:rPr>
              <a:t>：依靠正反馈 (Positive Feedback) 实现宏观分岔 (Bifurcation) 与系统路径选择。</a:t>
            </a:r>
            <a:endParaRPr lang="en-US" sz="1152" dirty="0"/>
          </a:p>
        </p:txBody>
      </p:sp>
      <p:sp>
        <p:nvSpPr>
          <p:cNvPr id="9" name="Shape 6"/>
          <p:cNvSpPr/>
          <p:nvPr/>
        </p:nvSpPr>
        <p:spPr>
          <a:xfrm>
            <a:off x="731520" y="3931920"/>
            <a:ext cx="3474720" cy="548640"/>
          </a:xfrm>
          <a:custGeom>
            <a:avLst/>
            <a:gdLst/>
            <a:ahLst/>
            <a:cxnLst/>
            <a:rect l="l" t="t" r="r" b="b"/>
            <a:pathLst>
              <a:path w="3474720" h="548640">
                <a:moveTo>
                  <a:pt x="0" y="0"/>
                </a:moveTo>
                <a:lnTo>
                  <a:pt x="3474720" y="0"/>
                </a:lnTo>
                <a:lnTo>
                  <a:pt x="3474720" y="548640"/>
                </a:lnTo>
                <a:lnTo>
                  <a:pt x="0" y="548640"/>
                </a:lnTo>
                <a:close/>
              </a:path>
            </a:pathLst>
          </a:custGeom>
          <a:solidFill>
            <a:srgbClr val="FFFFFF"/>
          </a:solidFill>
          <a:ln/>
        </p:spPr>
      </p:sp>
      <p:sp>
        <p:nvSpPr>
          <p:cNvPr id="10" name="Text 7"/>
          <p:cNvSpPr/>
          <p:nvPr/>
        </p:nvSpPr>
        <p:spPr>
          <a:xfrm>
            <a:off x="822960" y="4005072"/>
            <a:ext cx="329184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166534"/>
                </a:solidFill>
                <a:latin typeface="Microsoft YaHei" pitchFamily="34" charset="0"/>
                <a:ea typeface="Microsoft YaHei" pitchFamily="34" charset="-122"/>
                <a:cs typeface="Microsoft YaHei" pitchFamily="34" charset="-120"/>
              </a:rPr>
              <a:t>物理隐喻</a:t>
            </a:r>
            <a:pPr algn="ctr" indent="0" marL="0">
              <a:lnSpc>
                <a:spcPct val="120000"/>
              </a:lnSpc>
              <a:spcBef>
                <a:spcPts val="360"/>
              </a:spcBef>
              <a:buNone/>
            </a:pPr>
            <a:r>
              <a:rPr lang="en-US" sz="1008" dirty="0">
                <a:solidFill>
                  <a:srgbClr val="166534"/>
                </a:solidFill>
                <a:latin typeface="Microsoft YaHei" pitchFamily="34" charset="0"/>
                <a:ea typeface="Microsoft YaHei" pitchFamily="34" charset="-122"/>
                <a:cs typeface="Microsoft YaHei" pitchFamily="34" charset="-120"/>
              </a:rPr>
              <a:t>：蚁群路径规划 / 堆沙效应</a:t>
            </a:r>
            <a:endParaRPr lang="en-US" sz="1152" dirty="0"/>
          </a:p>
        </p:txBody>
      </p:sp>
      <p:sp>
        <p:nvSpPr>
          <p:cNvPr id="11" name="Shape 8"/>
          <p:cNvSpPr/>
          <p:nvPr/>
        </p:nvSpPr>
        <p:spPr>
          <a:xfrm>
            <a:off x="4754880" y="1600200"/>
            <a:ext cx="3840480" cy="3063240"/>
          </a:xfrm>
          <a:custGeom>
            <a:avLst/>
            <a:gdLst/>
            <a:ahLst/>
            <a:cxnLst/>
            <a:rect l="l" t="t" r="r" b="b"/>
            <a:pathLst>
              <a:path w="3840480" h="3063240">
                <a:moveTo>
                  <a:pt x="0" y="0"/>
                </a:moveTo>
                <a:lnTo>
                  <a:pt x="3840480" y="0"/>
                </a:lnTo>
                <a:lnTo>
                  <a:pt x="3840480" y="3063240"/>
                </a:lnTo>
                <a:lnTo>
                  <a:pt x="0" y="3063240"/>
                </a:lnTo>
                <a:close/>
              </a:path>
            </a:pathLst>
          </a:custGeom>
          <a:solidFill>
            <a:srgbClr val="F5F3FF"/>
          </a:solidFill>
          <a:ln/>
        </p:spPr>
      </p:sp>
      <p:sp>
        <p:nvSpPr>
          <p:cNvPr id="12" name="Text 9"/>
          <p:cNvSpPr/>
          <p:nvPr/>
        </p:nvSpPr>
        <p:spPr>
          <a:xfrm>
            <a:off x="4937760" y="1737360"/>
            <a:ext cx="3474720" cy="7498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5B21B6"/>
                </a:solidFill>
                <a:latin typeface="Microsoft YaHei" pitchFamily="34" charset="0"/>
                <a:ea typeface="Microsoft YaHei" pitchFamily="34" charset="-122"/>
                <a:cs typeface="Microsoft YaHei" pitchFamily="34" charset="-120"/>
              </a:rPr>
              <a:t>定性非直接协同</a:t>
            </a:r>
            <a:endParaRPr lang="en-US" sz="1152" dirty="0"/>
          </a:p>
          <a:p>
            <a:pPr indent="0" marL="0">
              <a:lnSpc>
                <a:spcPct val="120000"/>
              </a:lnSpc>
              <a:spcBef>
                <a:spcPts val="360"/>
              </a:spcBef>
              <a:buNone/>
            </a:pPr>
            <a:r>
              <a:rPr lang="en-US" sz="1008" dirty="0">
                <a:solidFill>
                  <a:srgbClr val="6D28D9"/>
                </a:solidFill>
                <a:latin typeface="Microsoft YaHei" pitchFamily="34" charset="0"/>
                <a:ea typeface="Microsoft YaHei" pitchFamily="34" charset="-122"/>
                <a:cs typeface="Microsoft YaHei" pitchFamily="34" charset="-120"/>
              </a:rPr>
              <a:t>Qualitative Stigmergy</a:t>
            </a:r>
            <a:endParaRPr lang="en-US" sz="1152" dirty="0"/>
          </a:p>
        </p:txBody>
      </p:sp>
      <p:sp>
        <p:nvSpPr>
          <p:cNvPr id="13" name="Text 10"/>
          <p:cNvSpPr/>
          <p:nvPr/>
        </p:nvSpPr>
        <p:spPr>
          <a:xfrm>
            <a:off x="4937760" y="2532888"/>
            <a:ext cx="347472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152" b="1" dirty="0">
                <a:solidFill>
                  <a:srgbClr val="334155"/>
                </a:solidFill>
                <a:latin typeface="Microsoft YaHei" pitchFamily="34" charset="0"/>
                <a:ea typeface="Microsoft YaHei" pitchFamily="34" charset="-122"/>
                <a:cs typeface="Microsoft YaHei" pitchFamily="34" charset="-120"/>
              </a:rPr>
              <a:t>离散质变</a:t>
            </a:r>
            <a:pPr indent="0" marL="0">
              <a:lnSpc>
                <a:spcPct val="120000"/>
              </a:lnSpc>
              <a:spcBef>
                <a:spcPts val="360"/>
              </a:spcBef>
              <a:buNone/>
            </a:pPr>
            <a:r>
              <a:rPr lang="en-US" sz="1152" dirty="0">
                <a:solidFill>
                  <a:srgbClr val="334155"/>
                </a:solidFill>
                <a:latin typeface="Microsoft YaHei" pitchFamily="34" charset="0"/>
                <a:ea typeface="Microsoft YaHei" pitchFamily="34" charset="-122"/>
                <a:cs typeface="Microsoft YaHei" pitchFamily="34" charset="-120"/>
              </a:rPr>
              <a:t>：刺激存在离散“质”的差异，不同的局部物理拓扑结构触发完全不同的后续动作。</a:t>
            </a:r>
            <a:endParaRPr lang="en-US" sz="1152" dirty="0"/>
          </a:p>
          <a:p>
            <a:pPr indent="0" marL="0">
              <a:lnSpc>
                <a:spcPct val="120000"/>
              </a:lnSpc>
              <a:spcBef>
                <a:spcPts val="360"/>
              </a:spcBef>
              <a:buNone/>
            </a:pPr>
            <a:r>
              <a:rPr lang="en-US" sz="1152" dirty="0">
                <a:solidFill>
                  <a:srgbClr val="334155"/>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152" b="1" dirty="0">
                <a:solidFill>
                  <a:srgbClr val="334155"/>
                </a:solidFill>
                <a:latin typeface="Microsoft YaHei" pitchFamily="34" charset="0"/>
                <a:ea typeface="Microsoft YaHei" pitchFamily="34" charset="-122"/>
                <a:cs typeface="Microsoft YaHei" pitchFamily="34" charset="-120"/>
              </a:rPr>
              <a:t>自装配动力学</a:t>
            </a:r>
            <a:pPr indent="0" marL="0">
              <a:lnSpc>
                <a:spcPct val="120000"/>
              </a:lnSpc>
              <a:spcBef>
                <a:spcPts val="360"/>
              </a:spcBef>
              <a:buNone/>
            </a:pPr>
            <a:r>
              <a:rPr lang="en-US" sz="1152" dirty="0">
                <a:solidFill>
                  <a:srgbClr val="334155"/>
                </a:solidFill>
                <a:latin typeface="Microsoft YaHei" pitchFamily="34" charset="0"/>
                <a:ea typeface="Microsoft YaHei" pitchFamily="34" charset="-122"/>
                <a:cs typeface="Microsoft YaHei" pitchFamily="34" charset="-120"/>
              </a:rPr>
              <a:t>：依赖严格的离散规则链条逐步推进，形成精密且复杂的三维物理结构。</a:t>
            </a:r>
            <a:endParaRPr lang="en-US" sz="1152" dirty="0"/>
          </a:p>
        </p:txBody>
      </p:sp>
      <p:sp>
        <p:nvSpPr>
          <p:cNvPr id="14" name="Shape 11"/>
          <p:cNvSpPr/>
          <p:nvPr/>
        </p:nvSpPr>
        <p:spPr>
          <a:xfrm>
            <a:off x="4937760" y="3931920"/>
            <a:ext cx="3474720" cy="548640"/>
          </a:xfrm>
          <a:custGeom>
            <a:avLst/>
            <a:gdLst/>
            <a:ahLst/>
            <a:cxnLst/>
            <a:rect l="l" t="t" r="r" b="b"/>
            <a:pathLst>
              <a:path w="3474720" h="548640">
                <a:moveTo>
                  <a:pt x="0" y="0"/>
                </a:moveTo>
                <a:lnTo>
                  <a:pt x="3474720" y="0"/>
                </a:lnTo>
                <a:lnTo>
                  <a:pt x="3474720" y="548640"/>
                </a:lnTo>
                <a:lnTo>
                  <a:pt x="0" y="548640"/>
                </a:lnTo>
                <a:close/>
              </a:path>
            </a:pathLst>
          </a:custGeom>
          <a:solidFill>
            <a:srgbClr val="FFFFFF"/>
          </a:solidFill>
          <a:ln/>
        </p:spPr>
      </p:sp>
      <p:sp>
        <p:nvSpPr>
          <p:cNvPr id="15" name="Text 12"/>
          <p:cNvSpPr/>
          <p:nvPr/>
        </p:nvSpPr>
        <p:spPr>
          <a:xfrm>
            <a:off x="5029200" y="4005072"/>
            <a:ext cx="329184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b="1" dirty="0">
                <a:solidFill>
                  <a:srgbClr val="5B21B6"/>
                </a:solidFill>
                <a:latin typeface="Microsoft YaHei" pitchFamily="34" charset="0"/>
                <a:ea typeface="Microsoft YaHei" pitchFamily="34" charset="-122"/>
                <a:cs typeface="Microsoft YaHei" pitchFamily="34" charset="-120"/>
              </a:rPr>
              <a:t>物理隐喻</a:t>
            </a:r>
            <a:pPr algn="ctr" indent="0" marL="0">
              <a:lnSpc>
                <a:spcPct val="120000"/>
              </a:lnSpc>
              <a:spcBef>
                <a:spcPts val="360"/>
              </a:spcBef>
              <a:buNone/>
            </a:pPr>
            <a:r>
              <a:rPr lang="en-US" sz="1008" dirty="0">
                <a:solidFill>
                  <a:srgbClr val="5B21B6"/>
                </a:solidFill>
                <a:latin typeface="Microsoft YaHei" pitchFamily="34" charset="0"/>
                <a:ea typeface="Microsoft YaHei" pitchFamily="34" charset="-122"/>
                <a:cs typeface="Microsoft YaHei" pitchFamily="34" charset="-120"/>
              </a:rPr>
              <a:t>：白蚁拱门筑巢 / 蜂巢精密架构</a:t>
            </a:r>
            <a:endParaRPr lang="en-US" sz="115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54864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从生物机制到人工群体智能：真正的尾声</a:t>
            </a:r>
            <a:endParaRPr lang="en-US" sz="1152" dirty="0"/>
          </a:p>
        </p:txBody>
      </p:sp>
      <p:sp>
        <p:nvSpPr>
          <p:cNvPr id="4" name="Shape 1"/>
          <p:cNvSpPr/>
          <p:nvPr/>
        </p:nvSpPr>
        <p:spPr>
          <a:xfrm>
            <a:off x="640080" y="126187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3B82F6"/>
          </a:solidFill>
          <a:ln/>
        </p:spPr>
      </p:sp>
      <p:sp>
        <p:nvSpPr>
          <p:cNvPr id="5" name="Shape 2"/>
          <p:cNvSpPr/>
          <p:nvPr/>
        </p:nvSpPr>
        <p:spPr>
          <a:xfrm>
            <a:off x="548640" y="1554480"/>
            <a:ext cx="54864" cy="2194560"/>
          </a:xfrm>
          <a:custGeom>
            <a:avLst/>
            <a:gdLst/>
            <a:ahLst/>
            <a:cxnLst/>
            <a:rect l="l" t="t" r="r" b="b"/>
            <a:pathLst>
              <a:path w="54864" h="2194560">
                <a:moveTo>
                  <a:pt x="0" y="0"/>
                </a:moveTo>
                <a:lnTo>
                  <a:pt x="54864" y="0"/>
                </a:lnTo>
                <a:lnTo>
                  <a:pt x="54864" y="2194560"/>
                </a:lnTo>
                <a:lnTo>
                  <a:pt x="0" y="2194560"/>
                </a:lnTo>
                <a:close/>
              </a:path>
            </a:pathLst>
          </a:custGeom>
          <a:solidFill>
            <a:srgbClr val="3B82F6"/>
          </a:solidFill>
          <a:ln/>
        </p:spPr>
      </p:sp>
      <p:sp>
        <p:nvSpPr>
          <p:cNvPr id="6" name="Shape 3"/>
          <p:cNvSpPr/>
          <p:nvPr/>
        </p:nvSpPr>
        <p:spPr>
          <a:xfrm>
            <a:off x="603504" y="1554480"/>
            <a:ext cx="3694176" cy="2194560"/>
          </a:xfrm>
          <a:custGeom>
            <a:avLst/>
            <a:gdLst/>
            <a:ahLst/>
            <a:cxnLst/>
            <a:rect l="l" t="t" r="r" b="b"/>
            <a:pathLst>
              <a:path w="3694176" h="2194560">
                <a:moveTo>
                  <a:pt x="0" y="0"/>
                </a:moveTo>
                <a:lnTo>
                  <a:pt x="3694176" y="0"/>
                </a:lnTo>
                <a:lnTo>
                  <a:pt x="3694176" y="2194560"/>
                </a:lnTo>
                <a:lnTo>
                  <a:pt x="0" y="2194560"/>
                </a:lnTo>
                <a:close/>
              </a:path>
            </a:pathLst>
          </a:custGeom>
          <a:solidFill>
            <a:srgbClr val="EFF6FF"/>
          </a:solidFill>
          <a:ln/>
        </p:spPr>
      </p:sp>
      <p:sp>
        <p:nvSpPr>
          <p:cNvPr id="7" name="Text 4"/>
          <p:cNvSpPr/>
          <p:nvPr/>
        </p:nvSpPr>
        <p:spPr>
          <a:xfrm>
            <a:off x="786384" y="1865376"/>
            <a:ext cx="3328416" cy="157276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E3A8A"/>
                </a:solidFill>
                <a:latin typeface="Microsoft YaHei" pitchFamily="34" charset="0"/>
                <a:ea typeface="Microsoft YaHei" pitchFamily="34" charset="-122"/>
                <a:cs typeface="Microsoft YaHei" pitchFamily="34" charset="-120"/>
              </a:rPr>
              <a:t>生物学基石：自组织的涌现</a:t>
            </a:r>
            <a:endParaRPr lang="en-US" sz="1152" dirty="0"/>
          </a:p>
          <a:p>
            <a:pPr indent="0" marL="0">
              <a:lnSpc>
                <a:spcPct val="120000"/>
              </a:lnSpc>
              <a:spcBef>
                <a:spcPts val="360"/>
              </a:spcBef>
              <a:buNone/>
            </a:pPr>
            <a:r>
              <a:rPr lang="en-US" sz="1008"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008" b="1" dirty="0">
                <a:solidFill>
                  <a:srgbClr val="475569"/>
                </a:solidFill>
                <a:latin typeface="Microsoft YaHei" pitchFamily="34" charset="0"/>
                <a:ea typeface="Microsoft YaHei" pitchFamily="34" charset="-122"/>
                <a:cs typeface="Microsoft YaHei" pitchFamily="34" charset="-120"/>
              </a:rPr>
              <a:t>经典回顾：</a:t>
            </a:r>
            <a:pPr indent="0" marL="0">
              <a:lnSpc>
                <a:spcPct val="120000"/>
              </a:lnSpc>
              <a:spcBef>
                <a:spcPts val="360"/>
              </a:spcBef>
              <a:buNone/>
            </a:pPr>
            <a:r>
              <a:rPr lang="en-US" sz="1008" dirty="0">
                <a:solidFill>
                  <a:srgbClr val="475569"/>
                </a:solidFill>
                <a:latin typeface="Microsoft YaHei" pitchFamily="34" charset="0"/>
                <a:ea typeface="Microsoft YaHei" pitchFamily="34" charset="-122"/>
                <a:cs typeface="Microsoft YaHei" pitchFamily="34" charset="-120"/>
              </a:rPr>
              <a:t> 从超个体之谜到 Grassé 的 Stigmergy 假说</a:t>
            </a:r>
            <a:endParaRPr lang="en-US" sz="1152" dirty="0"/>
          </a:p>
          <a:p>
            <a:pPr indent="0" marL="0">
              <a:lnSpc>
                <a:spcPct val="120000"/>
              </a:lnSpc>
              <a:spcBef>
                <a:spcPts val="360"/>
              </a:spcBef>
              <a:buNone/>
            </a:pPr>
            <a:r>
              <a:rPr lang="en-US" sz="1008"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008" b="1" dirty="0">
                <a:solidFill>
                  <a:srgbClr val="475569"/>
                </a:solidFill>
                <a:latin typeface="Microsoft YaHei" pitchFamily="34" charset="0"/>
                <a:ea typeface="Microsoft YaHei" pitchFamily="34" charset="-122"/>
                <a:cs typeface="Microsoft YaHei" pitchFamily="34" charset="-120"/>
              </a:rPr>
              <a:t>机制解密：</a:t>
            </a:r>
            <a:pPr indent="0" marL="0">
              <a:lnSpc>
                <a:spcPct val="120000"/>
              </a:lnSpc>
              <a:spcBef>
                <a:spcPts val="360"/>
              </a:spcBef>
              <a:buNone/>
            </a:pPr>
            <a:r>
              <a:rPr lang="en-US" sz="1008" dirty="0">
                <a:solidFill>
                  <a:srgbClr val="475569"/>
                </a:solidFill>
                <a:latin typeface="Microsoft YaHei" pitchFamily="34" charset="0"/>
                <a:ea typeface="Microsoft YaHei" pitchFamily="34" charset="-122"/>
                <a:cs typeface="Microsoft YaHei" pitchFamily="34" charset="-120"/>
              </a:rPr>
              <a:t> 定量与定性模型，揭示无中心控制的自组织分拣</a:t>
            </a:r>
            <a:endParaRPr lang="en-US" sz="1152" dirty="0"/>
          </a:p>
          <a:p>
            <a:pPr indent="0" marL="0">
              <a:lnSpc>
                <a:spcPct val="120000"/>
              </a:lnSpc>
              <a:spcBef>
                <a:spcPts val="360"/>
              </a:spcBef>
              <a:buNone/>
            </a:pPr>
            <a:r>
              <a:rPr lang="en-US" sz="1008"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008" b="1" dirty="0">
                <a:solidFill>
                  <a:srgbClr val="475569"/>
                </a:solidFill>
                <a:latin typeface="Microsoft YaHei" pitchFamily="34" charset="0"/>
                <a:ea typeface="Microsoft YaHei" pitchFamily="34" charset="-122"/>
                <a:cs typeface="Microsoft YaHei" pitchFamily="34" charset="-120"/>
              </a:rPr>
              <a:t>协同悖论：</a:t>
            </a:r>
            <a:pPr indent="0" marL="0">
              <a:lnSpc>
                <a:spcPct val="120000"/>
              </a:lnSpc>
              <a:spcBef>
                <a:spcPts val="360"/>
              </a:spcBef>
              <a:buNone/>
            </a:pPr>
            <a:r>
              <a:rPr lang="en-US" sz="1008" dirty="0">
                <a:solidFill>
                  <a:srgbClr val="475569"/>
                </a:solidFill>
                <a:latin typeface="Microsoft YaHei" pitchFamily="34" charset="0"/>
                <a:ea typeface="Microsoft YaHei" pitchFamily="34" charset="-122"/>
                <a:cs typeface="Microsoft YaHei" pitchFamily="34" charset="-120"/>
              </a:rPr>
              <a:t> 个体将痕迹写入环境，环境反过来引导个体行为</a:t>
            </a:r>
            <a:endParaRPr lang="en-US" sz="1152" dirty="0"/>
          </a:p>
        </p:txBody>
      </p:sp>
      <p:sp>
        <p:nvSpPr>
          <p:cNvPr id="8" name="Shape 5"/>
          <p:cNvSpPr/>
          <p:nvPr/>
        </p:nvSpPr>
        <p:spPr>
          <a:xfrm>
            <a:off x="4846320" y="1554480"/>
            <a:ext cx="54864" cy="2194560"/>
          </a:xfrm>
          <a:custGeom>
            <a:avLst/>
            <a:gdLst/>
            <a:ahLst/>
            <a:cxnLst/>
            <a:rect l="l" t="t" r="r" b="b"/>
            <a:pathLst>
              <a:path w="54864" h="2194560">
                <a:moveTo>
                  <a:pt x="0" y="0"/>
                </a:moveTo>
                <a:lnTo>
                  <a:pt x="54864" y="0"/>
                </a:lnTo>
                <a:lnTo>
                  <a:pt x="54864" y="2194560"/>
                </a:lnTo>
                <a:lnTo>
                  <a:pt x="0" y="2194560"/>
                </a:lnTo>
                <a:close/>
              </a:path>
            </a:pathLst>
          </a:custGeom>
          <a:solidFill>
            <a:srgbClr val="0D9488"/>
          </a:solidFill>
          <a:ln/>
        </p:spPr>
      </p:sp>
      <p:sp>
        <p:nvSpPr>
          <p:cNvPr id="9" name="Shape 6"/>
          <p:cNvSpPr/>
          <p:nvPr/>
        </p:nvSpPr>
        <p:spPr>
          <a:xfrm>
            <a:off x="4901184" y="1554480"/>
            <a:ext cx="3694176" cy="2194560"/>
          </a:xfrm>
          <a:custGeom>
            <a:avLst/>
            <a:gdLst/>
            <a:ahLst/>
            <a:cxnLst/>
            <a:rect l="l" t="t" r="r" b="b"/>
            <a:pathLst>
              <a:path w="3694176" h="2194560">
                <a:moveTo>
                  <a:pt x="0" y="0"/>
                </a:moveTo>
                <a:lnTo>
                  <a:pt x="3694176" y="0"/>
                </a:lnTo>
                <a:lnTo>
                  <a:pt x="3694176" y="2194560"/>
                </a:lnTo>
                <a:lnTo>
                  <a:pt x="0" y="2194560"/>
                </a:lnTo>
                <a:close/>
              </a:path>
            </a:pathLst>
          </a:custGeom>
          <a:solidFill>
            <a:srgbClr val="F0FDFA"/>
          </a:solidFill>
          <a:ln/>
        </p:spPr>
      </p:sp>
      <p:sp>
        <p:nvSpPr>
          <p:cNvPr id="10" name="Text 7"/>
          <p:cNvSpPr/>
          <p:nvPr/>
        </p:nvSpPr>
        <p:spPr>
          <a:xfrm>
            <a:off x="5084064" y="1865376"/>
            <a:ext cx="3328416" cy="157276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0F766E"/>
                </a:solidFill>
                <a:latin typeface="Microsoft YaHei" pitchFamily="34" charset="0"/>
                <a:ea typeface="Microsoft YaHei" pitchFamily="34" charset="-122"/>
                <a:cs typeface="Microsoft YaHei" pitchFamily="34" charset="-120"/>
              </a:rPr>
              <a:t>人工科学：工程化的身躯</a:t>
            </a:r>
            <a:endParaRPr lang="en-US" sz="1152" dirty="0"/>
          </a:p>
          <a:p>
            <a:pPr indent="0" marL="0">
              <a:lnSpc>
                <a:spcPct val="120000"/>
              </a:lnSpc>
              <a:spcBef>
                <a:spcPts val="360"/>
              </a:spcBef>
              <a:buNone/>
            </a:pPr>
            <a:r>
              <a:rPr lang="en-US" sz="1008"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008" b="1" dirty="0">
                <a:solidFill>
                  <a:srgbClr val="475569"/>
                </a:solidFill>
                <a:latin typeface="Microsoft YaHei" pitchFamily="34" charset="0"/>
                <a:ea typeface="Microsoft YaHei" pitchFamily="34" charset="-122"/>
                <a:cs typeface="Microsoft YaHei" pitchFamily="34" charset="-120"/>
              </a:rPr>
              <a:t>Theraulaz 预言：</a:t>
            </a:r>
            <a:pPr indent="0" marL="0">
              <a:lnSpc>
                <a:spcPct val="120000"/>
              </a:lnSpc>
              <a:spcBef>
                <a:spcPts val="360"/>
              </a:spcBef>
              <a:buNone/>
            </a:pPr>
            <a:r>
              <a:rPr lang="en-US" sz="1008" dirty="0">
                <a:solidFill>
                  <a:srgbClr val="475569"/>
                </a:solidFill>
                <a:latin typeface="Microsoft YaHei" pitchFamily="34" charset="0"/>
                <a:ea typeface="Microsoft YaHei" pitchFamily="34" charset="-122"/>
                <a:cs typeface="Microsoft YaHei" pitchFamily="34" charset="-120"/>
              </a:rPr>
              <a:t> Stigmergy 的巨大潜力将在人工科学中释放</a:t>
            </a:r>
            <a:endParaRPr lang="en-US" sz="1152" dirty="0"/>
          </a:p>
          <a:p>
            <a:pPr indent="0" marL="0">
              <a:lnSpc>
                <a:spcPct val="120000"/>
              </a:lnSpc>
              <a:spcBef>
                <a:spcPts val="360"/>
              </a:spcBef>
              <a:buNone/>
            </a:pPr>
            <a:r>
              <a:rPr lang="en-US" sz="1008"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008" b="1" dirty="0">
                <a:solidFill>
                  <a:srgbClr val="475569"/>
                </a:solidFill>
                <a:latin typeface="Microsoft YaHei" pitchFamily="34" charset="0"/>
                <a:ea typeface="Microsoft YaHei" pitchFamily="34" charset="-122"/>
                <a:cs typeface="Microsoft YaHei" pitchFamily="34" charset="-120"/>
              </a:rPr>
              <a:t>工程实践：</a:t>
            </a:r>
            <a:pPr indent="0" marL="0">
              <a:lnSpc>
                <a:spcPct val="120000"/>
              </a:lnSpc>
              <a:spcBef>
                <a:spcPts val="360"/>
              </a:spcBef>
              <a:buNone/>
            </a:pPr>
            <a:r>
              <a:rPr lang="en-US" sz="1008" dirty="0">
                <a:solidFill>
                  <a:srgbClr val="475569"/>
                </a:solidFill>
                <a:latin typeface="Microsoft YaHei" pitchFamily="34" charset="0"/>
                <a:ea typeface="Microsoft YaHei" pitchFamily="34" charset="-122"/>
                <a:cs typeface="Microsoft YaHei" pitchFamily="34" charset="-120"/>
              </a:rPr>
              <a:t> 蚁群算法(ACO)、群体机器人、开源异步协作</a:t>
            </a:r>
            <a:endParaRPr lang="en-US" sz="1152" dirty="0"/>
          </a:p>
          <a:p>
            <a:pPr indent="0" marL="0">
              <a:lnSpc>
                <a:spcPct val="120000"/>
              </a:lnSpc>
              <a:spcBef>
                <a:spcPts val="360"/>
              </a:spcBef>
              <a:buNone/>
            </a:pPr>
            <a:r>
              <a:rPr lang="en-US" sz="1008" dirty="0">
                <a:solidFill>
                  <a:srgbClr val="475569"/>
                </a:solidFill>
                <a:latin typeface="Microsoft YaHei" pitchFamily="34" charset="0"/>
                <a:ea typeface="Microsoft YaHei" pitchFamily="34" charset="-122"/>
                <a:cs typeface="Microsoft YaHei" pitchFamily="34" charset="-120"/>
              </a:rPr>
              <a:t>• </a:t>
            </a:r>
            <a:pPr indent="0" marL="0">
              <a:lnSpc>
                <a:spcPct val="120000"/>
              </a:lnSpc>
              <a:spcBef>
                <a:spcPts val="360"/>
              </a:spcBef>
              <a:buNone/>
            </a:pPr>
            <a:r>
              <a:rPr lang="en-US" sz="1008" b="1" dirty="0">
                <a:solidFill>
                  <a:srgbClr val="475569"/>
                </a:solidFill>
                <a:latin typeface="Microsoft YaHei" pitchFamily="34" charset="0"/>
                <a:ea typeface="Microsoft YaHei" pitchFamily="34" charset="-122"/>
                <a:cs typeface="Microsoft YaHei" pitchFamily="34" charset="-120"/>
              </a:rPr>
              <a:t>设计变革：</a:t>
            </a:r>
            <a:pPr indent="0" marL="0">
              <a:lnSpc>
                <a:spcPct val="120000"/>
              </a:lnSpc>
              <a:spcBef>
                <a:spcPts val="360"/>
              </a:spcBef>
              <a:buNone/>
            </a:pPr>
            <a:r>
              <a:rPr lang="en-US" sz="1008" dirty="0">
                <a:solidFill>
                  <a:srgbClr val="475569"/>
                </a:solidFill>
                <a:latin typeface="Microsoft YaHei" pitchFamily="34" charset="0"/>
                <a:ea typeface="Microsoft YaHei" pitchFamily="34" charset="-122"/>
                <a:cs typeface="Microsoft YaHei" pitchFamily="34" charset="-120"/>
              </a:rPr>
              <a:t> 用“环境媒介”解耦复杂系统中的重度中心协调器</a:t>
            </a:r>
            <a:endParaRPr lang="en-US" sz="1152" dirty="0"/>
          </a:p>
        </p:txBody>
      </p:sp>
      <p:sp>
        <p:nvSpPr>
          <p:cNvPr id="11" name="Shape 8"/>
          <p:cNvSpPr/>
          <p:nvPr/>
        </p:nvSpPr>
        <p:spPr>
          <a:xfrm>
            <a:off x="548640" y="3977640"/>
            <a:ext cx="8046720" cy="457200"/>
          </a:xfrm>
          <a:custGeom>
            <a:avLst/>
            <a:gdLst/>
            <a:ahLst/>
            <a:cxnLst/>
            <a:rect l="l" t="t" r="r" b="b"/>
            <a:pathLst>
              <a:path w="8046720" h="457200">
                <a:moveTo>
                  <a:pt x="0" y="0"/>
                </a:moveTo>
                <a:lnTo>
                  <a:pt x="8046720" y="0"/>
                </a:lnTo>
                <a:lnTo>
                  <a:pt x="8046720" y="457200"/>
                </a:lnTo>
                <a:lnTo>
                  <a:pt x="0" y="457200"/>
                </a:lnTo>
                <a:close/>
              </a:path>
            </a:pathLst>
          </a:custGeom>
          <a:solidFill>
            <a:srgbClr val="F8FAFC"/>
          </a:solidFill>
          <a:ln/>
        </p:spPr>
      </p:sp>
      <p:sp>
        <p:nvSpPr>
          <p:cNvPr id="12" name="Text 9"/>
          <p:cNvSpPr/>
          <p:nvPr/>
        </p:nvSpPr>
        <p:spPr>
          <a:xfrm>
            <a:off x="731520" y="3995928"/>
            <a:ext cx="768096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 </a:t>
            </a:r>
            <a:pPr algn="ctr" indent="0" marL="0">
              <a:lnSpc>
                <a:spcPct val="120000"/>
              </a:lnSpc>
              <a:spcBef>
                <a:spcPts val="360"/>
              </a:spcBef>
              <a:buNone/>
            </a:pPr>
            <a:r>
              <a:rPr lang="en-US" sz="1152" b="1" dirty="0">
                <a:solidFill>
                  <a:srgbClr val="475569"/>
                </a:solidFill>
                <a:latin typeface="Microsoft YaHei" pitchFamily="34" charset="0"/>
                <a:ea typeface="Microsoft YaHei" pitchFamily="34" charset="-122"/>
                <a:cs typeface="Microsoft YaHei" pitchFamily="34" charset="-120"/>
              </a:rPr>
              <a:t>架构师的终极思考：</a:t>
            </a:r>
            <a:pPr algn="ctr" indent="0" marL="0">
              <a:lnSpc>
                <a:spcPct val="120000"/>
              </a:lnSpc>
              <a:spcBef>
                <a:spcPts val="360"/>
              </a:spcBef>
              <a:buNone/>
            </a:pPr>
            <a:r>
              <a:rPr lang="en-US" sz="1152" dirty="0">
                <a:solidFill>
                  <a:srgbClr val="475569"/>
                </a:solidFill>
                <a:latin typeface="Microsoft YaHei" pitchFamily="34" charset="0"/>
                <a:ea typeface="Microsoft YaHei" pitchFamily="34" charset="-122"/>
                <a:cs typeface="Microsoft YaHei" pitchFamily="34" charset="-120"/>
              </a:rPr>
              <a:t> 你的系统里，有哪些“中心协调器”可以换成“环境媒介”？</a:t>
            </a:r>
            <a:endParaRPr lang="en-US" sz="115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2026-05-31T13:05:39Z</dcterms:created>
  <dcterms:modified xsi:type="dcterms:W3CDTF">2026-05-31T13:05:39Z</dcterms:modified>
</cp:coreProperties>
</file>